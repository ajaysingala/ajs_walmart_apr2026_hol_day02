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62" r:id="rId4"/>
    <p:sldId id="264" r:id="rId5"/>
    <p:sldId id="257" r:id="rId6"/>
    <p:sldId id="265" r:id="rId7"/>
    <p:sldId id="266" r:id="rId8"/>
    <p:sldId id="258" r:id="rId9"/>
    <p:sldId id="267" r:id="rId10"/>
    <p:sldId id="268" r:id="rId11"/>
    <p:sldId id="259" r:id="rId12"/>
    <p:sldId id="269" r:id="rId13"/>
    <p:sldId id="284" r:id="rId14"/>
    <p:sldId id="270" r:id="rId15"/>
    <p:sldId id="271" r:id="rId16"/>
    <p:sldId id="272" r:id="rId17"/>
    <p:sldId id="290" r:id="rId18"/>
    <p:sldId id="260" r:id="rId19"/>
    <p:sldId id="285" r:id="rId20"/>
    <p:sldId id="286" r:id="rId21"/>
    <p:sldId id="287" r:id="rId22"/>
    <p:sldId id="288" r:id="rId23"/>
    <p:sldId id="289" r:id="rId24"/>
    <p:sldId id="282" r:id="rId25"/>
    <p:sldId id="277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4" d="100"/>
          <a:sy n="84" d="100"/>
        </p:scale>
        <p:origin x="53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536CE-E45A-AADF-17CE-62DCAD60B5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CA8B13-14FB-FC7A-AE8D-0443EF2052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9FAD22-9F50-C88D-0933-C106D418B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FD7579-5794-CC00-C045-B791FA7AE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9AFCF2-0DEB-5B31-B526-62EBC37E0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564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EDAFE-2D34-239C-C11E-0D5AB8D34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8CBE48-7C5D-6D04-0FBA-FAAF900AFD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2593B1-9F48-9719-053B-3F5ADE53D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469231-46AC-F57A-D902-8D0F88958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53FE03-8F2E-103E-11D0-A27621A03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3434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78430-BCAB-1B0F-AF15-F0E893C43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653EE-F384-CF59-792F-FF41581401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620D31-6CAE-2FB6-153A-B7FF19081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2B98F5-8D12-377B-65EF-BC8BE45B7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329027-F24E-A076-D94C-44638BBC2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4764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7A3F7-DD0E-44ED-4EEB-249AABF7B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EC653D-D49D-A4FA-4A90-363F30C233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149514-69B0-9D75-AB75-91B84E81F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3F0CED-BEE9-51BC-66AD-2DB565B39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B2C858-6BD8-6F6C-18CC-DD61025D4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B96E2B-3604-BDC8-E54A-4D85F5C24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1386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02470-824B-4058-2C01-DBE9700C8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2100F9-D38B-36A7-7D45-54A621844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087207-1406-713D-69FC-90C0D7191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A808A8-687A-6C13-295A-A029B1E363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54EB28-8FF5-8565-09EB-0291EA601C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C54A18-0C92-2393-045B-6CAF563B7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1FF9CC-DC04-60BA-6C96-F30AC957B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5D9D53-A54F-89EC-CCAB-979C254D0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0737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02C45-D1E3-2607-6828-9CCF3A969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5398FC-392A-FDAB-C7AE-E6210BBDA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744E78-47C2-5F62-E4D8-2E5E7FD16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0CD9E7-7BAD-60B2-B129-E58DFACE4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7894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D6826F-7C9B-389B-D3BE-3E86EEAEE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DA1C3F-136F-9E45-0514-741B20986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E01C8C-4DBE-3D21-FAB2-B0DB4A6D8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0227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F5A2E-0099-9832-239F-CA04757EB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5FC63F-2D86-A29C-17EC-75FA93EC3B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A19F38-C99B-AA2D-6575-D974606101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1C0AA0-FA71-3666-DC1C-D1D8732E1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F92665-8BD3-E58B-6F97-5F3F0AEE9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4664A6-5CAB-99D8-788D-084B8C74A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3304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57889-AEA8-4506-EEA2-454B0813A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5FF9DB-8691-04E9-6B36-86362522E9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998241-823E-96F4-D240-F61FF2CAA0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B39A56-F6AD-8E3F-E2B7-79D0D078F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A6FDB3-0344-BE41-9AB9-32C3CF269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070EA6-15F8-B839-7E6E-C5576FCE6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1914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A7AAF-EE17-169F-1AB6-E30AED053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700CEB-5076-D9B7-2D28-2017F009BF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8B8B1B-89D7-F2B2-62B6-12397E624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4E3F9E-F277-4FED-D74A-80D7A5A42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86B7DE-F8D2-63C1-1000-F79563564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7226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DA0CC6-6B5F-7A14-1AF5-214FD7F5B8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A75CF6-B132-E92D-42E9-B6BEF4BAF6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CF2626-8B84-38A1-4301-6C45FB0C6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7D5142-E250-53BE-3BE7-1F85F5F0D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54A1F-596C-82D3-CF4F-46032471E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64566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412CF-0A97-D6E9-08A7-94B404CA02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EF4C72-1FF5-95FF-2EF5-016E4E776A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3A4C1B-20B9-D303-48D5-5152F3EC9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650320-3EA4-D740-5867-EAF5C6D9F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117687-1800-6FBB-6366-35F680C71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34426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45846-BF1A-FDA3-AF21-CBDF3817E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55D219-9850-A749-A812-DCC6A050A7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1E396F-1B23-F3A3-0511-712205481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2DEF52-9446-668B-36C9-2DBE413EC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1B32EA-BB8E-1A78-E352-195F8DE45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82574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434D0-95D6-2A03-AEFF-31BFE64BD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741E04-482B-9185-BE1B-F30C178B76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B69F5A-895A-3E20-0F99-18FC81F59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B99B35-6AE6-0716-0A3B-488AE99C9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4CC7CD-8462-7600-CB80-9ADFC4A59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18068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1805A-E41A-7AD3-9215-E24984304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7EFB5-C607-A863-1696-A0DCDD2A63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5BF1F4-07D4-6A3A-23A7-7F12DC4E74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476EC5-E88E-A84C-B7F6-A24DA323C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AD5988-64CC-0BEF-4262-41FDF2C69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38D28-03B2-C58F-3362-A1606E2F0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42782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48FA1-C0E2-F799-F99A-14B661670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BBE08B-D183-C98F-15F4-3923564B4A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CC617D-6738-8322-64CF-3306D9E901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6C13EF-8921-21AF-446E-43A50265D1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2E4F52-35E7-61A4-8AF5-CC7A3A980A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B5B8D9-D5AA-5FBB-6C8B-94BD962B9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C2B31D-3BC9-100D-3FFE-311A0E85A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47A129-04E8-C66F-66B9-C93EBD408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68236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4F029-C3BC-0946-5B46-27A62C277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CEDA22-AFE9-0D01-CE95-7689B19E5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270DA7-E55B-3D04-08C6-1A5D4AC69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1A3DB6-CC78-4E99-BF39-B6631CF57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4009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2D5020-86FF-29D2-CF0B-41FA1C497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12C0C5-2392-1961-1D1D-25D58044F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16E48B-1C67-4D12-8E10-27AC939FF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21764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6C026-103E-B109-AB8C-6D44A5153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E64F4-13F5-17BC-858F-A91D84A402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4961AB-963E-1504-72A4-A1AB170563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523EF0-71CA-2AA7-FBD0-CEDA44B0D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E5D4D8-83C7-F4C3-84E7-A35FB3495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1641F8-F4E2-CAA8-4C5E-A526C2227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14342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BA75A-F806-44FF-F25C-125C9BF22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D945C1-A2FF-5B51-8FCC-CD265E6425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A4E7DE-6EF8-8E36-0FA4-D6C69C6489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8B6497-FC12-FC5C-D1BE-CB3468C57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1604F6-DC90-44B8-7B77-6063A2FEE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ADB8FD-00F8-B052-388B-DA323B887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467926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979D5-D78B-51A4-D507-10241BD86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20A1C5-E115-C982-D300-680CB9BCFB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18A9CA-6D71-4F05-0745-C5908856A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F3D602-75B8-A654-AB57-B81FC5305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8E863-DEB4-4044-F68B-76F80BE5E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527997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A36B2D-9F42-4E6C-811E-EBB1C46CF7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BB7E0C-5FD8-5909-7828-CFF87FAF9C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B09456-A7F9-B919-EDFF-77A9B8A48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9707C0-423A-49F8-7B06-1915C0E0A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66D5D8-78EF-1E5F-018E-6A0B3F2C1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785682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82C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82C3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736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039B7D-65D6-46E6-4D0D-5248DE315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87C1B3-42BF-1C76-BE2B-E8E0F8BF69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57298E-FF3A-263A-A4F6-F667A54D77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9BD994-088D-4DFC-A63A-488DD3725837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3B327C-5432-928A-78F3-525A017738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DACEFF-1A2F-E90C-1E3A-45B9DFF323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4302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3E9012-068E-580E-8B8F-2451EB4A5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9532D6-39DA-958D-51DB-1D71DCBEE3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65381-025A-C3E2-9A48-96CFE8B98D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816CEB-1072-4B22-A473-588D7AF62EB2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145B3F-F87A-E427-9837-304E169A59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487EC7-7BD1-4047-A8C3-498FD35E15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7127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A831E-D1DB-BDE8-DA0F-9D8044D8A6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Python Enablement for Gen AI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315B3B-2A6A-942B-EC5D-131373CA562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Ajay J. Singala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201399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C374A9-1785-AE64-2B0A-D1C59FC72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Enterprise AI with RAG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F5BD1-2BC9-18E1-BE9F-FC9DE6E251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50682" y="4870824"/>
            <a:ext cx="10005951" cy="1458258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24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50060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3E8498D-DA8F-EF6C-5420-F153D4979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E39696-2F4E-A3CB-2B45-0571098FE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091" y="1814321"/>
            <a:ext cx="7772400" cy="456092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IN" sz="8000" dirty="0"/>
              <a:t>RAG Fundamentals &amp; Enterprise Use</a:t>
            </a:r>
            <a:endParaRPr lang="en-US" sz="7400" b="1" dirty="0"/>
          </a:p>
        </p:txBody>
      </p:sp>
    </p:spTree>
    <p:extLst>
      <p:ext uri="{BB962C8B-B14F-4D97-AF65-F5344CB8AC3E}">
        <p14:creationId xmlns:p14="http://schemas.microsoft.com/office/powerpoint/2010/main" val="30043926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FEBB8-F88F-D666-F290-2900F35F9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Enterprise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BFF1E4-E4A4-82BE-0128-F23052451D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LLMs are powerful,</a:t>
            </a:r>
          </a:p>
          <a:p>
            <a:pPr lvl="1"/>
            <a:r>
              <a:rPr lang="en-US" dirty="0"/>
              <a:t>But </a:t>
            </a:r>
            <a:r>
              <a:rPr lang="en-US" b="1" dirty="0"/>
              <a:t>they don’t “know” your enterprise data</a:t>
            </a:r>
          </a:p>
          <a:p>
            <a:pPr lvl="1"/>
            <a:r>
              <a:rPr lang="en-US" dirty="0"/>
              <a:t>They predict text</a:t>
            </a:r>
          </a:p>
          <a:p>
            <a:endParaRPr lang="en-US" dirty="0"/>
          </a:p>
          <a:p>
            <a:r>
              <a:rPr lang="en-US" b="1" dirty="0"/>
              <a:t>Key challenges:</a:t>
            </a:r>
          </a:p>
          <a:p>
            <a:pPr lvl="1"/>
            <a:r>
              <a:rPr lang="en-US" dirty="0"/>
              <a:t>Hallucination</a:t>
            </a:r>
          </a:p>
          <a:p>
            <a:pPr lvl="1"/>
            <a:r>
              <a:rPr lang="en-US" dirty="0"/>
              <a:t>Grounding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46050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5F5A6-422F-7FBD-06C0-D9EADE28E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3AE75-49B7-3208-A23B-51254C9B4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Enterprise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A5F02F-4E12-F4D2-EBA9-279D2DE6F4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dirty="0"/>
              <a:t>Hallucination</a:t>
            </a:r>
          </a:p>
          <a:p>
            <a:pPr lvl="1"/>
            <a:r>
              <a:rPr lang="en-IN" dirty="0"/>
              <a:t>Confidently wrong answers</a:t>
            </a:r>
          </a:p>
          <a:p>
            <a:pPr lvl="1"/>
            <a:r>
              <a:rPr lang="en-US" dirty="0"/>
              <a:t>Model gives </a:t>
            </a:r>
            <a:r>
              <a:rPr lang="en-US" b="1" dirty="0"/>
              <a:t>plausible but incorrect answers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Happens when: </a:t>
            </a:r>
          </a:p>
          <a:p>
            <a:pPr lvl="2"/>
            <a:r>
              <a:rPr lang="en-US" dirty="0"/>
              <a:t>Data is missing </a:t>
            </a:r>
          </a:p>
          <a:p>
            <a:pPr lvl="2"/>
            <a:r>
              <a:rPr lang="en-US" dirty="0"/>
              <a:t>Question is ambiguous </a:t>
            </a:r>
          </a:p>
          <a:p>
            <a:pPr lvl="2"/>
            <a:r>
              <a:rPr lang="en-US" dirty="0"/>
              <a:t>Model relies only on training data </a:t>
            </a:r>
          </a:p>
          <a:p>
            <a:pPr lvl="1"/>
            <a:endParaRPr lang="en-US" b="1" dirty="0"/>
          </a:p>
          <a:p>
            <a:pPr lvl="1"/>
            <a:r>
              <a:rPr lang="en-US" b="1" dirty="0"/>
              <a:t>Example</a:t>
            </a:r>
          </a:p>
          <a:p>
            <a:pPr lvl="2"/>
            <a:r>
              <a:rPr lang="en-US" dirty="0"/>
              <a:t>Prompt:</a:t>
            </a:r>
          </a:p>
          <a:p>
            <a:pPr marL="914400" lvl="2" indent="0">
              <a:buNone/>
            </a:pPr>
            <a:r>
              <a:rPr lang="en-US" i="1" dirty="0">
                <a:latin typeface="Cascadia Code" panose="020B0609020000020004" pitchFamily="49" charset="0"/>
                <a:cs typeface="Cascadia Code" panose="020B0609020000020004" pitchFamily="49" charset="0"/>
              </a:rPr>
              <a:t>"What is our company’s refund policy for premium customers?“</a:t>
            </a:r>
          </a:p>
          <a:p>
            <a:pPr lvl="2"/>
            <a:endParaRPr 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lvl="2"/>
            <a:r>
              <a:rPr lang="en-US" dirty="0"/>
              <a:t>LLM (without RAG):</a:t>
            </a:r>
          </a:p>
          <a:p>
            <a:pPr marL="914400" lvl="2" indent="0">
              <a:buNone/>
            </a:pPr>
            <a:r>
              <a:rPr lang="en-US" i="1" dirty="0">
                <a:latin typeface="Cascadia Code" panose="020B0609020000020004" pitchFamily="49" charset="0"/>
                <a:cs typeface="Cascadia Code" panose="020B0609020000020004" pitchFamily="49" charset="0"/>
              </a:rPr>
              <a:t>"Premium customers get full refunds within 60 days“</a:t>
            </a:r>
            <a:br>
              <a:rPr lang="en-US" i="1" dirty="0"/>
            </a:br>
            <a:r>
              <a:rPr lang="en-US" dirty="0"/>
              <a:t>(Completely made up)</a:t>
            </a:r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61702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45361-163F-8B29-6D6E-D1AECA4E4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4C3A5-828C-9E24-2EE9-D3685F6F6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Enterprise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0B288D-E3B6-226F-59E8-79FD1D6D45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Data Grounding</a:t>
            </a:r>
          </a:p>
          <a:p>
            <a:pPr lvl="1"/>
            <a:r>
              <a:rPr lang="en-US" b="1" dirty="0"/>
              <a:t>Reality anchoring</a:t>
            </a:r>
          </a:p>
          <a:p>
            <a:pPr lvl="1"/>
            <a:r>
              <a:rPr lang="en-US" dirty="0"/>
              <a:t>Ensuring answers come from </a:t>
            </a:r>
            <a:r>
              <a:rPr lang="en-US" b="1" dirty="0"/>
              <a:t>trusted enterprise sources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Like: policies, SOPs, contracts, audit documents </a:t>
            </a:r>
          </a:p>
          <a:p>
            <a:pPr lvl="1"/>
            <a:endParaRPr lang="en-US" b="1" dirty="0"/>
          </a:p>
          <a:p>
            <a:pPr lvl="1"/>
            <a:r>
              <a:rPr lang="en-US" b="1" dirty="0"/>
              <a:t>Same Example with RAG</a:t>
            </a:r>
          </a:p>
          <a:p>
            <a:pPr lvl="1"/>
            <a:r>
              <a:rPr lang="en-US" dirty="0"/>
              <a:t>LLM (with RAG):</a:t>
            </a:r>
          </a:p>
          <a:p>
            <a:pPr marL="914400" lvl="2" indent="0">
              <a:buNone/>
            </a:pPr>
            <a:r>
              <a:rPr lang="en-US" i="1" dirty="0">
                <a:latin typeface="Cascadia Code" panose="020B0609020000020004" pitchFamily="49" charset="0"/>
                <a:cs typeface="Cascadia Code" panose="020B0609020000020004" pitchFamily="49" charset="0"/>
              </a:rPr>
              <a:t>"As per policy document v3.2, premium customers are eligible for partial refunds within 30 days.“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48741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5ADA3-057C-129D-FC6A-A3221ACA7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RAG vs Fine-Tuning (When to Use What)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EE04D4-A108-E222-368C-CD7B373F6D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Simple Analogy</a:t>
            </a:r>
          </a:p>
          <a:p>
            <a:pPr lvl="1"/>
            <a:r>
              <a:rPr lang="en-US" dirty="0"/>
              <a:t>RAG = Open-book exam </a:t>
            </a:r>
          </a:p>
          <a:p>
            <a:pPr lvl="1"/>
            <a:r>
              <a:rPr lang="en-US" dirty="0"/>
              <a:t>Fine-tuning = Memory training</a:t>
            </a:r>
          </a:p>
          <a:p>
            <a:endParaRPr lang="en-IN" dirty="0"/>
          </a:p>
          <a:p>
            <a:r>
              <a:rPr lang="en-IN" b="1" dirty="0"/>
              <a:t>RAG (Retrieval-Augmented Generation)</a:t>
            </a:r>
          </a:p>
          <a:p>
            <a:pPr lvl="1"/>
            <a:r>
              <a:rPr lang="en-IN" dirty="0"/>
              <a:t>Fetches </a:t>
            </a:r>
            <a:r>
              <a:rPr lang="en-IN" b="1" dirty="0"/>
              <a:t>latest external data at runtime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No need to retrain model </a:t>
            </a:r>
          </a:p>
          <a:p>
            <a:pPr lvl="1"/>
            <a:r>
              <a:rPr lang="en-IN" b="1" dirty="0"/>
              <a:t>Use RAG when:</a:t>
            </a:r>
          </a:p>
          <a:p>
            <a:pPr lvl="2"/>
            <a:r>
              <a:rPr lang="en-IN" dirty="0"/>
              <a:t>Data changes frequently (policies, pricing, regulations) </a:t>
            </a:r>
          </a:p>
          <a:p>
            <a:pPr lvl="2"/>
            <a:r>
              <a:rPr lang="en-IN" dirty="0"/>
              <a:t>Large document repositories </a:t>
            </a:r>
          </a:p>
          <a:p>
            <a:pPr lvl="2"/>
            <a:r>
              <a:rPr lang="en-IN" dirty="0"/>
              <a:t>Need traceability (citations) </a:t>
            </a:r>
          </a:p>
          <a:p>
            <a:pPr lvl="1"/>
            <a:endParaRPr lang="en-IN" b="1" dirty="0"/>
          </a:p>
          <a:p>
            <a:pPr lvl="1"/>
            <a:r>
              <a:rPr lang="en-IN" b="1" dirty="0"/>
              <a:t>Example</a:t>
            </a:r>
          </a:p>
          <a:p>
            <a:pPr lvl="2"/>
            <a:r>
              <a:rPr lang="en-IN" dirty="0"/>
              <a:t>Customer support bot pulling answers from:</a:t>
            </a:r>
          </a:p>
          <a:p>
            <a:pPr lvl="3"/>
            <a:r>
              <a:rPr lang="en-IN" dirty="0"/>
              <a:t>Knowledge base </a:t>
            </a:r>
          </a:p>
          <a:p>
            <a:pPr lvl="3"/>
            <a:r>
              <a:rPr lang="en-IN" dirty="0"/>
              <a:t>FAQs </a:t>
            </a:r>
          </a:p>
          <a:p>
            <a:pPr lvl="3"/>
            <a:r>
              <a:rPr lang="en-IN" dirty="0"/>
              <a:t>Policy documents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10314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72C58-B2AE-0715-EE64-4B51907C0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69CC9-8CFD-DABB-6ACA-12BE9AB99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RAG vs Fine-Tuning (When to Use What)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ECA2CE-62F3-DC3F-D8E5-91B13F0314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Fine-Tuning</a:t>
            </a:r>
          </a:p>
          <a:p>
            <a:pPr lvl="1"/>
            <a:r>
              <a:rPr lang="en-US" dirty="0"/>
              <a:t>Trains model on </a:t>
            </a:r>
            <a:r>
              <a:rPr lang="en-US" b="1" dirty="0"/>
              <a:t>specific patterns or behavior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Not ideal for frequently changing data </a:t>
            </a:r>
          </a:p>
          <a:p>
            <a:pPr lvl="1"/>
            <a:endParaRPr lang="en-US" b="1" dirty="0"/>
          </a:p>
          <a:p>
            <a:pPr lvl="1"/>
            <a:r>
              <a:rPr lang="en-US" b="1" dirty="0"/>
              <a:t>Use Fine-tuning when:</a:t>
            </a:r>
          </a:p>
          <a:p>
            <a:pPr lvl="2"/>
            <a:r>
              <a:rPr lang="en-US" dirty="0"/>
              <a:t>You want: </a:t>
            </a:r>
          </a:p>
          <a:p>
            <a:pPr lvl="3"/>
            <a:r>
              <a:rPr lang="en-US" dirty="0"/>
              <a:t>Consistent tone (e.g., legal, brand voice) </a:t>
            </a:r>
          </a:p>
          <a:p>
            <a:pPr lvl="3"/>
            <a:r>
              <a:rPr lang="en-US" dirty="0"/>
              <a:t>Structured outputs </a:t>
            </a:r>
          </a:p>
          <a:p>
            <a:pPr lvl="3"/>
            <a:r>
              <a:rPr lang="en-US" dirty="0"/>
              <a:t>Domain-specific reasoning </a:t>
            </a:r>
          </a:p>
          <a:p>
            <a:pPr lvl="1"/>
            <a:endParaRPr lang="en-US" b="1" dirty="0"/>
          </a:p>
          <a:p>
            <a:pPr lvl="1"/>
            <a:r>
              <a:rPr lang="en-US" b="1" dirty="0"/>
              <a:t>Example</a:t>
            </a:r>
          </a:p>
          <a:p>
            <a:pPr lvl="2"/>
            <a:r>
              <a:rPr lang="en-US" dirty="0"/>
              <a:t>Training model to: </a:t>
            </a:r>
          </a:p>
          <a:p>
            <a:pPr lvl="3"/>
            <a:r>
              <a:rPr lang="en-US" dirty="0"/>
              <a:t>Write audit summaries in a specific format </a:t>
            </a:r>
          </a:p>
          <a:p>
            <a:pPr lvl="3"/>
            <a:r>
              <a:rPr lang="en-US" dirty="0"/>
              <a:t>Classify insurance claims</a:t>
            </a:r>
          </a:p>
        </p:txBody>
      </p:sp>
    </p:spTree>
    <p:extLst>
      <p:ext uri="{BB962C8B-B14F-4D97-AF65-F5344CB8AC3E}">
        <p14:creationId xmlns:p14="http://schemas.microsoft.com/office/powerpoint/2010/main" val="41726197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E36A0-D7C0-9138-2253-466155663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EDB85-999D-BAB1-FFE2-EC0CE019B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RAG vs Fine-Tuning (When to Use What)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E46A78-64D3-7573-C177-970B727BA1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Simple Comparison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B725637-BE1D-C167-1D5D-8676562790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3846354"/>
              </p:ext>
            </p:extLst>
          </p:nvPr>
        </p:nvGraphicFramePr>
        <p:xfrm>
          <a:off x="838200" y="2904014"/>
          <a:ext cx="10515600" cy="2194560"/>
        </p:xfrm>
        <a:graphic>
          <a:graphicData uri="http://schemas.openxmlformats.org/drawingml/2006/table">
            <a:tbl>
              <a:tblPr firstRow="1">
                <a:tableStyleId>{3C2FFA5D-87B4-456A-9821-1D502468CF0F}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24864809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79703997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7808334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Fine-Tuning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16483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freshness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Real-time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Static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2762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Lower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38129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Explainability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 (sources)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23715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Setup 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Faster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Slower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68812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Best for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Knowledge retrieval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Behavior</a:t>
                      </a:r>
                      <a:r>
                        <a:rPr lang="en-IN" dirty="0"/>
                        <a:t> shaping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39154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34673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3AB1C-4CD0-25B1-BF3C-C279538A7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RAG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10459-9A13-9796-A3DF-DCBC69442C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Big Picture</a:t>
            </a:r>
          </a:p>
          <a:p>
            <a:pPr lvl="1"/>
            <a:r>
              <a:rPr lang="en-US" dirty="0"/>
              <a:t>RAG = </a:t>
            </a:r>
            <a:r>
              <a:rPr lang="en-US" b="1" dirty="0"/>
              <a:t>Search + Generate</a:t>
            </a:r>
            <a:endParaRPr lang="en-US" dirty="0"/>
          </a:p>
          <a:p>
            <a:endParaRPr lang="en-IN" dirty="0"/>
          </a:p>
          <a:p>
            <a:r>
              <a:rPr lang="en-IN" dirty="0"/>
              <a:t>Steps: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dirty="0"/>
              <a:t>Ingestion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dirty="0"/>
              <a:t>Chunking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dirty="0"/>
              <a:t>Embeddings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dirty="0"/>
              <a:t>Retrieval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dirty="0"/>
              <a:t>Generation</a:t>
            </a:r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92029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99F62-62D5-F27C-19AE-C114C4C34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9C8CE-2FAB-BE08-E32F-F74956D45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RAG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8C479E-8EE0-508A-329E-83F65F83F9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1. Ingestion</a:t>
            </a:r>
          </a:p>
          <a:p>
            <a:pPr lvl="1"/>
            <a:r>
              <a:rPr lang="en-US" dirty="0"/>
              <a:t>The process of collecting, cleaning, and preparing enterprise data before it enters the RAG pipeline.</a:t>
            </a:r>
          </a:p>
          <a:p>
            <a:pPr lvl="1"/>
            <a:endParaRPr lang="en-US" b="1" dirty="0"/>
          </a:p>
          <a:p>
            <a:pPr lvl="1"/>
            <a:r>
              <a:rPr lang="en-US" b="1" dirty="0"/>
              <a:t>Why Ingestion Matters</a:t>
            </a:r>
          </a:p>
          <a:p>
            <a:pPr lvl="2"/>
            <a:r>
              <a:rPr lang="en-US" dirty="0"/>
              <a:t>If ingestion is poor:</a:t>
            </a:r>
          </a:p>
          <a:p>
            <a:pPr lvl="3"/>
            <a:r>
              <a:rPr lang="en-US" dirty="0"/>
              <a:t>Wrong documents enter the system </a:t>
            </a:r>
          </a:p>
          <a:p>
            <a:pPr lvl="3"/>
            <a:r>
              <a:rPr lang="en-US" dirty="0"/>
              <a:t>Outdated data gets used </a:t>
            </a:r>
          </a:p>
          <a:p>
            <a:pPr lvl="3"/>
            <a:r>
              <a:rPr lang="en-US" dirty="0"/>
              <a:t>Sensitive data may leak </a:t>
            </a:r>
          </a:p>
          <a:p>
            <a:pPr lvl="2"/>
            <a:r>
              <a:rPr lang="en-US" dirty="0"/>
              <a:t>Result: </a:t>
            </a:r>
            <a:r>
              <a:rPr lang="en-US" b="1" dirty="0"/>
              <a:t>Garbage in → Garbage out</a:t>
            </a:r>
            <a:endParaRPr lang="en-US" dirty="0"/>
          </a:p>
          <a:p>
            <a:pPr lvl="1"/>
            <a:endParaRPr lang="en-IN" dirty="0"/>
          </a:p>
          <a:p>
            <a:pPr lvl="1"/>
            <a:r>
              <a:rPr lang="en-IN" dirty="0"/>
              <a:t>What Happens in Ingestion?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IN" dirty="0"/>
              <a:t>Data Source Identification (</a:t>
            </a:r>
            <a:r>
              <a:rPr lang="en-IN" i="1" dirty="0"/>
              <a:t>where does data come from?</a:t>
            </a:r>
            <a:r>
              <a:rPr lang="en-IN" dirty="0"/>
              <a:t>)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IN" dirty="0"/>
              <a:t>Data Extraction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IN" dirty="0"/>
              <a:t>Data Cleaning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IN" dirty="0"/>
              <a:t>Metadata Enrichment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IN" dirty="0"/>
              <a:t>Access Control &amp; Security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IN" dirty="0"/>
              <a:t>Data Freshness &amp; Updates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287605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C5943-8B3B-E87A-30B5-7A5FE82A8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8A5C7-2B65-B553-F988-FEA19EB5A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RAG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EA520E-1C82-E5C4-ACE6-010223DB5B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2. Chunking</a:t>
            </a:r>
          </a:p>
          <a:p>
            <a:pPr lvl="1"/>
            <a:r>
              <a:rPr lang="en-IN" dirty="0"/>
              <a:t>Break large documents into smaller pieces </a:t>
            </a:r>
          </a:p>
          <a:p>
            <a:pPr lvl="1"/>
            <a:endParaRPr lang="en-IN" b="1" dirty="0"/>
          </a:p>
          <a:p>
            <a:pPr lvl="1"/>
            <a:r>
              <a:rPr lang="en-IN" b="1" dirty="0"/>
              <a:t>Example</a:t>
            </a:r>
          </a:p>
          <a:p>
            <a:pPr lvl="2"/>
            <a:r>
              <a:rPr lang="en-IN" dirty="0"/>
              <a:t>100-page policy → split into: </a:t>
            </a:r>
          </a:p>
          <a:p>
            <a:pPr lvl="3"/>
            <a:r>
              <a:rPr lang="en-IN" dirty="0"/>
              <a:t>Sections </a:t>
            </a:r>
          </a:p>
          <a:p>
            <a:pPr lvl="3"/>
            <a:r>
              <a:rPr lang="en-IN" dirty="0"/>
              <a:t>Paragraphs </a:t>
            </a:r>
          </a:p>
          <a:p>
            <a:pPr lvl="1"/>
            <a:endParaRPr lang="en-IN" dirty="0"/>
          </a:p>
          <a:p>
            <a:pPr lvl="1"/>
            <a:r>
              <a:rPr lang="en-IN" dirty="0"/>
              <a:t>Why?</a:t>
            </a:r>
            <a:br>
              <a:rPr lang="en-IN" dirty="0"/>
            </a:br>
            <a:r>
              <a:rPr lang="en-IN" dirty="0"/>
              <a:t>	LLMs can’t process huge documents at once efficiently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42106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86FEC-65B6-5F64-C454-9E87C7587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E28FB-D193-0EF1-84F1-E89DE7331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RAG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49A403-6E12-5DE7-F49A-101B9CF97B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3. Embeddings</a:t>
            </a:r>
          </a:p>
          <a:p>
            <a:pPr lvl="1"/>
            <a:r>
              <a:rPr lang="en-US" dirty="0"/>
              <a:t>Convert text into </a:t>
            </a:r>
            <a:r>
              <a:rPr lang="en-US" b="1" dirty="0"/>
              <a:t>numerical vectors (meaning representation)</a:t>
            </a:r>
            <a:r>
              <a:rPr lang="en-US" dirty="0"/>
              <a:t> </a:t>
            </a:r>
          </a:p>
          <a:p>
            <a:pPr lvl="1"/>
            <a:endParaRPr lang="en-US" b="1" dirty="0"/>
          </a:p>
          <a:p>
            <a:pPr lvl="1"/>
            <a:r>
              <a:rPr lang="en-US" b="1" dirty="0"/>
              <a:t>Example</a:t>
            </a:r>
          </a:p>
          <a:p>
            <a:pPr lvl="2"/>
            <a:r>
              <a:rPr lang="en-US" dirty="0"/>
              <a:t>“refund policy” and “return rules” → similar vectors </a:t>
            </a:r>
          </a:p>
          <a:p>
            <a:pPr lvl="2"/>
            <a:r>
              <a:rPr lang="en-US" dirty="0"/>
              <a:t>This allows </a:t>
            </a:r>
            <a:r>
              <a:rPr lang="en-US" b="1" dirty="0"/>
              <a:t>semantic search</a:t>
            </a:r>
            <a:r>
              <a:rPr lang="en-US" dirty="0"/>
              <a:t>, not just keyword search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62624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C09A7-C12F-FC12-E094-CAE23DBD7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18BFD-EA29-C47B-657A-9010ABF2F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RAG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5D61C-3FA8-B00A-F58D-D202335AC6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4. Retrieval</a:t>
            </a:r>
          </a:p>
          <a:p>
            <a:pPr lvl="1"/>
            <a:r>
              <a:rPr lang="en-US" dirty="0"/>
              <a:t>Find </a:t>
            </a:r>
            <a:r>
              <a:rPr lang="en-US" b="1" dirty="0"/>
              <a:t>most relevant chunks</a:t>
            </a:r>
            <a:r>
              <a:rPr lang="en-US" dirty="0"/>
              <a:t> based on user query </a:t>
            </a:r>
          </a:p>
          <a:p>
            <a:pPr lvl="1"/>
            <a:endParaRPr lang="en-US" b="1" dirty="0"/>
          </a:p>
          <a:p>
            <a:pPr lvl="1"/>
            <a:r>
              <a:rPr lang="en-US" b="1" dirty="0"/>
              <a:t>Example</a:t>
            </a:r>
          </a:p>
          <a:p>
            <a:pPr lvl="2"/>
            <a:r>
              <a:rPr lang="en-US" dirty="0"/>
              <a:t>Query:</a:t>
            </a:r>
            <a:br>
              <a:rPr lang="en-US" dirty="0"/>
            </a:br>
            <a:r>
              <a:rPr lang="en-US" dirty="0"/>
              <a:t>	</a:t>
            </a:r>
            <a:r>
              <a:rPr lang="en-US" i="1" dirty="0"/>
              <a:t>"What is claim settlement time?"</a:t>
            </a:r>
            <a:endParaRPr lang="en-US" dirty="0"/>
          </a:p>
          <a:p>
            <a:pPr lvl="2"/>
            <a:r>
              <a:rPr lang="en-US" dirty="0"/>
              <a:t>System retrieves:</a:t>
            </a:r>
          </a:p>
          <a:p>
            <a:pPr lvl="3"/>
            <a:r>
              <a:rPr lang="en-US" dirty="0"/>
              <a:t>Clause 4.2 from claims document</a:t>
            </a:r>
          </a:p>
          <a:p>
            <a:pPr lvl="3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65091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5D94A-C2C8-0B0B-BC13-2F14936BE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EA07B-6E90-66FB-090A-86769207D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RAG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2F6A61-966C-105A-A4F7-3291F13F09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5. Generation</a:t>
            </a:r>
          </a:p>
          <a:p>
            <a:pPr lvl="1"/>
            <a:r>
              <a:rPr lang="en-US" dirty="0"/>
              <a:t>LLM generates answer using: </a:t>
            </a:r>
          </a:p>
          <a:p>
            <a:pPr lvl="2"/>
            <a:r>
              <a:rPr lang="en-US" dirty="0"/>
              <a:t>Retrieved data </a:t>
            </a:r>
          </a:p>
          <a:p>
            <a:pPr lvl="2"/>
            <a:r>
              <a:rPr lang="en-US" dirty="0"/>
              <a:t>User query </a:t>
            </a:r>
          </a:p>
          <a:p>
            <a:pPr lvl="1"/>
            <a:endParaRPr lang="en-US" b="1" dirty="0"/>
          </a:p>
          <a:p>
            <a:pPr lvl="1"/>
            <a:r>
              <a:rPr lang="en-US" b="1" dirty="0"/>
              <a:t>Example Output</a:t>
            </a:r>
          </a:p>
          <a:p>
            <a:pPr lvl="2"/>
            <a:r>
              <a:rPr lang="en-US" i="1" dirty="0"/>
              <a:t>"According to Clause 4.2, claim settlement takes 7–10 working days.“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25182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722B2DD-E14D-4972-9D98-5D6E61B1B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CFB124C-4B0C-4A81-8633-17257B1516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82006" y="569844"/>
            <a:ext cx="8427988" cy="5649981"/>
          </a:xfrm>
          <a:prstGeom prst="rect">
            <a:avLst/>
          </a:prstGeom>
          <a:ln>
            <a:noFill/>
          </a:ln>
          <a:effectLst>
            <a:outerShdw blurRad="317500" dist="317500" dir="7140000" sx="95000" sy="95000" algn="t" rotWithShape="0">
              <a:srgbClr val="000000">
                <a:alpha val="2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71E86AD-E2C0-674B-97CB-D1D183310B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"/>
          <a:stretch>
            <a:fillRect/>
          </a:stretch>
        </p:blipFill>
        <p:spPr>
          <a:xfrm>
            <a:off x="1882006" y="569843"/>
            <a:ext cx="8450714" cy="5649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5385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C8AA8-8BED-27D0-E5D5-9217A8D35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Output Evaluation – Grounded vs Hallucinated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13FF52-2AF7-4398-9F44-F5EF3315FE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b="1" dirty="0"/>
              <a:t>Why it matters</a:t>
            </a:r>
          </a:p>
          <a:p>
            <a:pPr lvl="1"/>
            <a:r>
              <a:rPr lang="en-US" dirty="0"/>
              <a:t>Even with RAG, AI can still:</a:t>
            </a:r>
          </a:p>
          <a:p>
            <a:pPr lvl="2"/>
            <a:r>
              <a:rPr lang="en-US" dirty="0"/>
              <a:t>Misinterpret retrieved data </a:t>
            </a:r>
          </a:p>
          <a:p>
            <a:pPr lvl="2"/>
            <a:r>
              <a:rPr lang="en-US" dirty="0"/>
              <a:t>Combine facts incorrectly </a:t>
            </a:r>
          </a:p>
          <a:p>
            <a:endParaRPr lang="en-US" dirty="0"/>
          </a:p>
          <a:p>
            <a:r>
              <a:rPr lang="en-US" b="1" dirty="0"/>
              <a:t>Grounded Response</a:t>
            </a:r>
          </a:p>
          <a:p>
            <a:pPr lvl="1"/>
            <a:r>
              <a:rPr lang="en-US" dirty="0"/>
              <a:t>Based on retrieved documents </a:t>
            </a:r>
          </a:p>
          <a:p>
            <a:pPr lvl="1"/>
            <a:r>
              <a:rPr lang="en-US" dirty="0"/>
              <a:t>Includes references </a:t>
            </a:r>
          </a:p>
          <a:p>
            <a:pPr lvl="1"/>
            <a:endParaRPr lang="en-US" b="1" dirty="0"/>
          </a:p>
          <a:p>
            <a:pPr lvl="1"/>
            <a:r>
              <a:rPr lang="en-US" b="1" dirty="0"/>
              <a:t>Example</a:t>
            </a:r>
          </a:p>
          <a:p>
            <a:pPr marL="914400" lvl="2" indent="0">
              <a:buNone/>
            </a:pPr>
            <a:r>
              <a:rPr lang="en-US" i="1" dirty="0">
                <a:latin typeface="Cascadia Code" panose="020B0609020000020004" pitchFamily="49" charset="0"/>
                <a:cs typeface="Cascadia Code" panose="020B0609020000020004" pitchFamily="49" charset="0"/>
              </a:rPr>
              <a:t>"As per HR Policy Section 5.1, employees are eligible for 20 days leave."</a:t>
            </a:r>
            <a:endParaRPr 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lvl="2"/>
            <a:r>
              <a:rPr lang="en-US" dirty="0"/>
              <a:t>Traceable</a:t>
            </a:r>
          </a:p>
          <a:p>
            <a:pPr lvl="2"/>
            <a:r>
              <a:rPr lang="en-US" dirty="0"/>
              <a:t>Verifiable</a:t>
            </a:r>
          </a:p>
          <a:p>
            <a:endParaRPr lang="en-US" dirty="0"/>
          </a:p>
          <a:p>
            <a:r>
              <a:rPr lang="en-US" b="1" dirty="0"/>
              <a:t>Hallucinated Response</a:t>
            </a:r>
          </a:p>
          <a:p>
            <a:pPr lvl="1"/>
            <a:r>
              <a:rPr lang="en-US" dirty="0"/>
              <a:t>No source or incorrect interpretation </a:t>
            </a:r>
          </a:p>
          <a:p>
            <a:pPr lvl="1"/>
            <a:endParaRPr lang="en-US" b="1" dirty="0"/>
          </a:p>
          <a:p>
            <a:pPr lvl="1"/>
            <a:r>
              <a:rPr lang="en-US" b="1" dirty="0"/>
              <a:t>Example</a:t>
            </a:r>
          </a:p>
          <a:p>
            <a:pPr marL="457200" lvl="1" indent="0">
              <a:buNone/>
            </a:pPr>
            <a:r>
              <a:rPr lang="en-US" i="1" dirty="0">
                <a:latin typeface="Cascadia Code" panose="020B0609020000020004" pitchFamily="49" charset="0"/>
                <a:cs typeface="Cascadia Code" panose="020B0609020000020004" pitchFamily="49" charset="0"/>
              </a:rPr>
              <a:t>"Employees typically get 25 days leave annually."</a:t>
            </a:r>
            <a:endParaRPr 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lvl="2"/>
            <a:r>
              <a:rPr lang="en-US" dirty="0"/>
              <a:t> Sounds reasonable</a:t>
            </a:r>
          </a:p>
          <a:p>
            <a:pPr lvl="2"/>
            <a:r>
              <a:rPr lang="en-US" dirty="0"/>
              <a:t>But not in your policy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72114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D41A1-9136-4C67-3DD6-3B225D1F2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Latency, Cost, and Quality Degrade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431C4D-5BD6-B4BB-9FE8-8288EB9694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b="1" dirty="0"/>
              <a:t>Ingestion Stage</a:t>
            </a:r>
          </a:p>
          <a:p>
            <a:pPr lvl="1"/>
            <a:r>
              <a:rPr lang="en-IN" b="1" dirty="0"/>
              <a:t>Latency</a:t>
            </a:r>
          </a:p>
          <a:p>
            <a:pPr lvl="2"/>
            <a:r>
              <a:rPr lang="en-IN" dirty="0"/>
              <a:t>Usually offline → not user-facing </a:t>
            </a:r>
          </a:p>
          <a:p>
            <a:pPr lvl="2"/>
            <a:r>
              <a:rPr lang="en-IN" dirty="0"/>
              <a:t>But slow ingestion = </a:t>
            </a:r>
            <a:r>
              <a:rPr lang="en-IN" b="1" dirty="0"/>
              <a:t>data not available in time</a:t>
            </a:r>
            <a:r>
              <a:rPr lang="en-IN" dirty="0"/>
              <a:t> </a:t>
            </a:r>
          </a:p>
          <a:p>
            <a:pPr lvl="1"/>
            <a:endParaRPr lang="en-IN" dirty="0"/>
          </a:p>
          <a:p>
            <a:pPr lvl="1"/>
            <a:r>
              <a:rPr lang="en-IN" b="1" dirty="0"/>
              <a:t>Cost</a:t>
            </a:r>
          </a:p>
          <a:p>
            <a:pPr lvl="2"/>
            <a:r>
              <a:rPr lang="en-IN" dirty="0"/>
              <a:t>OCR (for scanned PDFs) </a:t>
            </a:r>
          </a:p>
          <a:p>
            <a:pPr lvl="2"/>
            <a:r>
              <a:rPr lang="en-IN" dirty="0"/>
              <a:t>Data pipelines </a:t>
            </a:r>
          </a:p>
          <a:p>
            <a:pPr lvl="2"/>
            <a:r>
              <a:rPr lang="en-IN" dirty="0"/>
              <a:t>Storage (documents + vectors) </a:t>
            </a:r>
          </a:p>
          <a:p>
            <a:pPr lvl="1"/>
            <a:endParaRPr lang="en-IN" dirty="0"/>
          </a:p>
          <a:p>
            <a:pPr lvl="1"/>
            <a:r>
              <a:rPr lang="en-IN" b="1" dirty="0"/>
              <a:t>Quality Risks</a:t>
            </a:r>
          </a:p>
          <a:p>
            <a:pPr lvl="2"/>
            <a:r>
              <a:rPr lang="en-IN" dirty="0"/>
              <a:t>Poor extraction (missed tables, clauses) </a:t>
            </a:r>
          </a:p>
          <a:p>
            <a:pPr lvl="2"/>
            <a:r>
              <a:rPr lang="en-IN" dirty="0"/>
              <a:t>Duplicate or outdated documents </a:t>
            </a:r>
          </a:p>
          <a:p>
            <a:pPr lvl="2"/>
            <a:r>
              <a:rPr lang="en-IN" dirty="0"/>
              <a:t>Missing metadata </a:t>
            </a:r>
          </a:p>
          <a:p>
            <a:pPr lvl="1"/>
            <a:endParaRPr lang="en-IN" dirty="0"/>
          </a:p>
          <a:p>
            <a:pPr lvl="1"/>
            <a:r>
              <a:rPr lang="en-IN" b="1" dirty="0"/>
              <a:t>Example:</a:t>
            </a:r>
          </a:p>
          <a:p>
            <a:pPr lvl="2"/>
            <a:r>
              <a:rPr lang="en-IN" dirty="0"/>
              <a:t>Contract clause not extracted properly → never retrieved later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85582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9EAA4-C644-D4DA-FBA9-B83FA557B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9CF17-0C00-8CFA-2F49-BB286DA06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Latency, Cost, and Quality Degrade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4841A7-D366-AFF1-97CA-9257F1FC45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b="1" dirty="0"/>
              <a:t>Chunking Stage</a:t>
            </a:r>
            <a:endParaRPr lang="en-IN" dirty="0"/>
          </a:p>
          <a:p>
            <a:pPr lvl="1"/>
            <a:r>
              <a:rPr lang="en-IN" b="1" dirty="0"/>
              <a:t>Latency</a:t>
            </a:r>
          </a:p>
          <a:p>
            <a:pPr lvl="2"/>
            <a:r>
              <a:rPr lang="en-IN" dirty="0"/>
              <a:t>Minimal impact during runtime </a:t>
            </a:r>
          </a:p>
          <a:p>
            <a:pPr lvl="2"/>
            <a:r>
              <a:rPr lang="en-IN" dirty="0"/>
              <a:t>But affects retrieval efficiency </a:t>
            </a:r>
          </a:p>
          <a:p>
            <a:pPr lvl="1"/>
            <a:endParaRPr lang="en-IN" dirty="0"/>
          </a:p>
          <a:p>
            <a:pPr lvl="1"/>
            <a:r>
              <a:rPr lang="en-IN" b="1" dirty="0"/>
              <a:t>Cost</a:t>
            </a:r>
          </a:p>
          <a:p>
            <a:pPr lvl="2"/>
            <a:r>
              <a:rPr lang="en-IN" dirty="0"/>
              <a:t>More chunks = more embeddings = higher cost </a:t>
            </a:r>
          </a:p>
          <a:p>
            <a:pPr lvl="1"/>
            <a:endParaRPr lang="en-IN" dirty="0"/>
          </a:p>
          <a:p>
            <a:pPr lvl="1"/>
            <a:r>
              <a:rPr lang="en-IN" b="1" dirty="0"/>
              <a:t>Quality Risks</a:t>
            </a:r>
          </a:p>
          <a:p>
            <a:pPr lvl="2"/>
            <a:r>
              <a:rPr lang="en-IN" b="1" dirty="0"/>
              <a:t>Too Large Chunks:</a:t>
            </a:r>
          </a:p>
          <a:p>
            <a:pPr lvl="3"/>
            <a:r>
              <a:rPr lang="en-IN" dirty="0"/>
              <a:t>Irrelevant content included </a:t>
            </a:r>
          </a:p>
          <a:p>
            <a:pPr lvl="3"/>
            <a:r>
              <a:rPr lang="en-IN" dirty="0"/>
              <a:t>Lower retrieval precision </a:t>
            </a:r>
          </a:p>
          <a:p>
            <a:pPr lvl="2"/>
            <a:r>
              <a:rPr lang="en-IN" b="1" dirty="0"/>
              <a:t>Too Small Chunks:</a:t>
            </a:r>
          </a:p>
          <a:p>
            <a:pPr lvl="3"/>
            <a:r>
              <a:rPr lang="en-IN" dirty="0"/>
              <a:t>Loss of context </a:t>
            </a:r>
          </a:p>
          <a:p>
            <a:pPr lvl="3"/>
            <a:r>
              <a:rPr lang="en-IN" dirty="0"/>
              <a:t>Fragmented answers </a:t>
            </a:r>
          </a:p>
          <a:p>
            <a:pPr lvl="1"/>
            <a:endParaRPr lang="en-IN" dirty="0"/>
          </a:p>
          <a:p>
            <a:pPr lvl="1"/>
            <a:r>
              <a:rPr lang="en-IN" b="1" dirty="0"/>
              <a:t>Example:</a:t>
            </a:r>
          </a:p>
          <a:p>
            <a:pPr lvl="2"/>
            <a:r>
              <a:rPr lang="en-IN" dirty="0"/>
              <a:t>Chunk = full 10-page policy → noisy retrieval </a:t>
            </a:r>
          </a:p>
          <a:p>
            <a:pPr lvl="2"/>
            <a:r>
              <a:rPr lang="en-IN" dirty="0"/>
              <a:t>Chunk = 1 line → missing context</a:t>
            </a:r>
          </a:p>
        </p:txBody>
      </p:sp>
    </p:spTree>
    <p:extLst>
      <p:ext uri="{BB962C8B-B14F-4D97-AF65-F5344CB8AC3E}">
        <p14:creationId xmlns:p14="http://schemas.microsoft.com/office/powerpoint/2010/main" val="7842423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4D39D-853D-4CA6-D443-36E59E29D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9B412-DCB1-3C14-70CC-915F9FFC3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Latency, Cost, and Quality Degrade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EC22B-EF85-A57E-70D3-CF51274E4B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b="1" dirty="0"/>
              <a:t>Embeddings Stage</a:t>
            </a:r>
            <a:endParaRPr lang="en-IN" dirty="0"/>
          </a:p>
          <a:p>
            <a:pPr lvl="1"/>
            <a:r>
              <a:rPr lang="en-IN" b="1" dirty="0"/>
              <a:t>Latency</a:t>
            </a:r>
          </a:p>
          <a:p>
            <a:pPr lvl="2"/>
            <a:r>
              <a:rPr lang="en-IN" dirty="0"/>
              <a:t>Happens during ingestion (mostly) </a:t>
            </a:r>
          </a:p>
          <a:p>
            <a:pPr lvl="2"/>
            <a:r>
              <a:rPr lang="en-IN" dirty="0"/>
              <a:t>Query embedding is fast but adds slight delay </a:t>
            </a:r>
          </a:p>
          <a:p>
            <a:pPr lvl="1"/>
            <a:endParaRPr lang="en-IN" dirty="0"/>
          </a:p>
          <a:p>
            <a:pPr lvl="1"/>
            <a:r>
              <a:rPr lang="en-IN" b="1" dirty="0"/>
              <a:t>Cost</a:t>
            </a:r>
          </a:p>
          <a:p>
            <a:pPr lvl="2"/>
            <a:r>
              <a:rPr lang="en-IN" dirty="0"/>
              <a:t>Charged per token </a:t>
            </a:r>
          </a:p>
          <a:p>
            <a:pPr lvl="2"/>
            <a:r>
              <a:rPr lang="en-IN" dirty="0"/>
              <a:t>Large document base → significant cost </a:t>
            </a:r>
          </a:p>
          <a:p>
            <a:pPr lvl="1"/>
            <a:endParaRPr lang="en-IN" dirty="0"/>
          </a:p>
          <a:p>
            <a:pPr lvl="1"/>
            <a:r>
              <a:rPr lang="en-IN" b="1" dirty="0"/>
              <a:t>Quality Risks</a:t>
            </a:r>
          </a:p>
          <a:p>
            <a:pPr lvl="2"/>
            <a:r>
              <a:rPr lang="en-IN" dirty="0"/>
              <a:t>Poor embedding model → weak semantic understanding </a:t>
            </a:r>
          </a:p>
          <a:p>
            <a:pPr lvl="2"/>
            <a:r>
              <a:rPr lang="en-IN" dirty="0"/>
              <a:t>Domain mismatch (e.g., legal vs general embeddings) </a:t>
            </a:r>
          </a:p>
          <a:p>
            <a:pPr lvl="2"/>
            <a:endParaRPr lang="en-IN" dirty="0"/>
          </a:p>
          <a:p>
            <a:pPr lvl="1"/>
            <a:r>
              <a:rPr lang="en-IN" b="1" dirty="0"/>
              <a:t>Example:</a:t>
            </a:r>
          </a:p>
          <a:p>
            <a:pPr lvl="2"/>
            <a:r>
              <a:rPr lang="en-IN" dirty="0"/>
              <a:t>“Penalty clause” not matched with “liquidated damages”</a:t>
            </a:r>
          </a:p>
        </p:txBody>
      </p:sp>
    </p:spTree>
    <p:extLst>
      <p:ext uri="{BB962C8B-B14F-4D97-AF65-F5344CB8AC3E}">
        <p14:creationId xmlns:p14="http://schemas.microsoft.com/office/powerpoint/2010/main" val="22584580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0CBD90-B059-F6E3-A3E9-35FDD97AF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F1AC8-78C9-0C72-4463-F7F24817E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Latency, Cost, and Quality Degrade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4E3479-CFC3-5A0F-8119-5E0631B7A1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b="1" dirty="0"/>
              <a:t>Retrieval Stage (Most Critical)</a:t>
            </a:r>
            <a:endParaRPr lang="en-IN" dirty="0"/>
          </a:p>
          <a:p>
            <a:pPr lvl="1"/>
            <a:r>
              <a:rPr lang="en-IN" b="1" dirty="0"/>
              <a:t>Latency</a:t>
            </a:r>
          </a:p>
          <a:p>
            <a:pPr lvl="2"/>
            <a:r>
              <a:rPr lang="en-IN" dirty="0"/>
              <a:t>Vector search + filtering </a:t>
            </a:r>
          </a:p>
          <a:p>
            <a:pPr lvl="2"/>
            <a:r>
              <a:rPr lang="en-IN" dirty="0"/>
              <a:t>Complex queries → slower retrieval </a:t>
            </a:r>
          </a:p>
          <a:p>
            <a:pPr lvl="1"/>
            <a:endParaRPr lang="en-IN" dirty="0"/>
          </a:p>
          <a:p>
            <a:pPr lvl="1"/>
            <a:r>
              <a:rPr lang="en-IN" b="1" dirty="0"/>
              <a:t>Cost</a:t>
            </a:r>
          </a:p>
          <a:p>
            <a:pPr lvl="2"/>
            <a:r>
              <a:rPr lang="en-IN" dirty="0"/>
              <a:t>Large vector DB → infra cost </a:t>
            </a:r>
          </a:p>
          <a:p>
            <a:pPr lvl="2"/>
            <a:r>
              <a:rPr lang="en-IN" dirty="0"/>
              <a:t>Hybrid search (keyword + vector) adds cost </a:t>
            </a:r>
          </a:p>
          <a:p>
            <a:pPr lvl="1"/>
            <a:endParaRPr lang="en-IN" dirty="0"/>
          </a:p>
          <a:p>
            <a:pPr lvl="1"/>
            <a:r>
              <a:rPr lang="en-IN" b="1" dirty="0"/>
              <a:t>Quality Risks (BIGGEST IMPACT)</a:t>
            </a:r>
          </a:p>
          <a:p>
            <a:pPr lvl="2"/>
            <a:r>
              <a:rPr lang="en-IN" dirty="0"/>
              <a:t>Wrong chunks retrieved </a:t>
            </a:r>
          </a:p>
          <a:p>
            <a:pPr lvl="2"/>
            <a:r>
              <a:rPr lang="en-IN" dirty="0"/>
              <a:t>Relevant chunks missed </a:t>
            </a:r>
          </a:p>
          <a:p>
            <a:pPr lvl="2"/>
            <a:r>
              <a:rPr lang="en-IN" dirty="0"/>
              <a:t>Too many chunks retrieved (noise) </a:t>
            </a:r>
          </a:p>
          <a:p>
            <a:pPr lvl="1"/>
            <a:endParaRPr lang="en-IN" dirty="0"/>
          </a:p>
          <a:p>
            <a:pPr lvl="1"/>
            <a:r>
              <a:rPr lang="en-IN" b="1" dirty="0"/>
              <a:t>Example:</a:t>
            </a:r>
          </a:p>
          <a:p>
            <a:pPr lvl="2"/>
            <a:r>
              <a:rPr lang="en-IN" b="1" dirty="0"/>
              <a:t>User:</a:t>
            </a:r>
            <a:r>
              <a:rPr lang="en-IN" dirty="0"/>
              <a:t> “What is the audit escalation process?”</a:t>
            </a:r>
          </a:p>
          <a:p>
            <a:pPr lvl="3"/>
            <a:r>
              <a:rPr lang="en-IN" dirty="0"/>
              <a:t>Retrieved: audit definition </a:t>
            </a:r>
          </a:p>
          <a:p>
            <a:pPr lvl="3"/>
            <a:r>
              <a:rPr lang="en-IN" dirty="0"/>
              <a:t>Should retrieve: escalation SOP</a:t>
            </a:r>
          </a:p>
        </p:txBody>
      </p:sp>
    </p:spTree>
    <p:extLst>
      <p:ext uri="{BB962C8B-B14F-4D97-AF65-F5344CB8AC3E}">
        <p14:creationId xmlns:p14="http://schemas.microsoft.com/office/powerpoint/2010/main" val="6531715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8C759-3044-942E-7F35-AE07A6525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D5D94-6F58-0AA6-286A-048DA3A90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Latency, Cost, and Quality Degrade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B7CAFC-0DC9-EEFA-399E-AE77FDB615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b="1" dirty="0"/>
              <a:t>Generation Stage (LLM)</a:t>
            </a:r>
            <a:endParaRPr lang="en-IN" dirty="0"/>
          </a:p>
          <a:p>
            <a:pPr lvl="1"/>
            <a:r>
              <a:rPr lang="en-IN" b="1" dirty="0"/>
              <a:t>Latency</a:t>
            </a:r>
          </a:p>
          <a:p>
            <a:pPr lvl="2"/>
            <a:r>
              <a:rPr lang="en-IN" dirty="0"/>
              <a:t>LLM response time (largest contributor) </a:t>
            </a:r>
          </a:p>
          <a:p>
            <a:pPr lvl="2"/>
            <a:r>
              <a:rPr lang="en-IN" dirty="0"/>
              <a:t>More context → slower response </a:t>
            </a:r>
          </a:p>
          <a:p>
            <a:pPr lvl="1"/>
            <a:endParaRPr lang="en-IN" dirty="0"/>
          </a:p>
          <a:p>
            <a:pPr lvl="1"/>
            <a:r>
              <a:rPr lang="en-IN" b="1" dirty="0"/>
              <a:t>Cost</a:t>
            </a:r>
          </a:p>
          <a:p>
            <a:pPr lvl="2"/>
            <a:r>
              <a:rPr lang="en-IN" dirty="0"/>
              <a:t>Charged per input + output tokens </a:t>
            </a:r>
          </a:p>
          <a:p>
            <a:pPr lvl="2"/>
            <a:r>
              <a:rPr lang="en-IN" dirty="0"/>
              <a:t>More retrieved chunks → higher cost </a:t>
            </a:r>
          </a:p>
          <a:p>
            <a:pPr lvl="1"/>
            <a:endParaRPr lang="en-IN" dirty="0"/>
          </a:p>
          <a:p>
            <a:pPr lvl="1"/>
            <a:r>
              <a:rPr lang="en-IN" b="1" dirty="0"/>
              <a:t>Quality Risks</a:t>
            </a:r>
          </a:p>
          <a:p>
            <a:pPr lvl="2"/>
            <a:r>
              <a:rPr lang="en-IN" dirty="0"/>
              <a:t>Hallucination (if context weak) </a:t>
            </a:r>
          </a:p>
          <a:p>
            <a:pPr lvl="2"/>
            <a:r>
              <a:rPr lang="en-IN" dirty="0"/>
              <a:t>Over-generalization </a:t>
            </a:r>
          </a:p>
          <a:p>
            <a:pPr lvl="2"/>
            <a:r>
              <a:rPr lang="en-IN" dirty="0"/>
              <a:t>Ignoring retrieved content </a:t>
            </a:r>
          </a:p>
          <a:p>
            <a:pPr lvl="1"/>
            <a:endParaRPr lang="en-IN" dirty="0"/>
          </a:p>
          <a:p>
            <a:pPr lvl="1"/>
            <a:r>
              <a:rPr lang="en-IN" b="1" dirty="0"/>
              <a:t>Example:</a:t>
            </a:r>
          </a:p>
          <a:p>
            <a:pPr lvl="2"/>
            <a:r>
              <a:rPr lang="en-IN" dirty="0"/>
              <a:t>Correct chunk retrieved, but model adds extra incorrect info</a:t>
            </a:r>
          </a:p>
        </p:txBody>
      </p:sp>
    </p:spTree>
    <p:extLst>
      <p:ext uri="{BB962C8B-B14F-4D97-AF65-F5344CB8AC3E}">
        <p14:creationId xmlns:p14="http://schemas.microsoft.com/office/powerpoint/2010/main" val="6585626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6E82C-20D6-BE62-C2BE-13A40A844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EB474-E6FD-15E1-06BB-B9A1E6EEF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8D72EB-0C47-7A9D-0A30-CF5CE683E6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RAG Pipeline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59054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66804-B56F-083C-3F6B-0DF22CC19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952B5-46D9-5C09-0C9A-0DD2CD24B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479826-5E44-C184-8C42-0C25F6EB17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77755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</TotalTime>
  <Words>972</Words>
  <Application>Microsoft Office PowerPoint</Application>
  <PresentationFormat>Widescreen</PresentationFormat>
  <Paragraphs>265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Aptos</vt:lpstr>
      <vt:lpstr>Aptos Display</vt:lpstr>
      <vt:lpstr>Arial</vt:lpstr>
      <vt:lpstr>Cascadia Code</vt:lpstr>
      <vt:lpstr>Neue Haas Grotesk Text Pro</vt:lpstr>
      <vt:lpstr>Office Theme</vt:lpstr>
      <vt:lpstr>1_Office Theme</vt:lpstr>
      <vt:lpstr>Python Enablement for Gen AI</vt:lpstr>
      <vt:lpstr>Enterprise AI with RAG</vt:lpstr>
      <vt:lpstr>RAG Fundamentals &amp; Enterprise Use</vt:lpstr>
      <vt:lpstr>Enterprise Challenges</vt:lpstr>
      <vt:lpstr>Enterprise Challenges</vt:lpstr>
      <vt:lpstr>Enterprise Challenges</vt:lpstr>
      <vt:lpstr>RAG vs Fine-Tuning (When to Use What)</vt:lpstr>
      <vt:lpstr>RAG vs Fine-Tuning (When to Use What)</vt:lpstr>
      <vt:lpstr>RAG vs Fine-Tuning (When to Use What)</vt:lpstr>
      <vt:lpstr>RAG Pipeline</vt:lpstr>
      <vt:lpstr>RAG Pipeline</vt:lpstr>
      <vt:lpstr>RAG Pipeline</vt:lpstr>
      <vt:lpstr>RAG Pipeline</vt:lpstr>
      <vt:lpstr>RAG Pipeline</vt:lpstr>
      <vt:lpstr>RAG Pipeline</vt:lpstr>
      <vt:lpstr>PowerPoint Presentation</vt:lpstr>
      <vt:lpstr>Output Evaluation – Grounded vs Hallucinated</vt:lpstr>
      <vt:lpstr>Where Latency, Cost, and Quality Degrade </vt:lpstr>
      <vt:lpstr>Where Latency, Cost, and Quality Degrade </vt:lpstr>
      <vt:lpstr>Where Latency, Cost, and Quality Degrade </vt:lpstr>
      <vt:lpstr>Where Latency, Cost, and Quality Degrade </vt:lpstr>
      <vt:lpstr>Where Latency, Cost, and Quality Degrade </vt:lpstr>
      <vt:lpstr>Demo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Ajay Singala</dc:creator>
  <cp:lastModifiedBy>Ajay Singala</cp:lastModifiedBy>
  <cp:revision>32</cp:revision>
  <dcterms:created xsi:type="dcterms:W3CDTF">2026-04-01T13:32:53Z</dcterms:created>
  <dcterms:modified xsi:type="dcterms:W3CDTF">2026-09-22T17:01:46Z</dcterms:modified>
</cp:coreProperties>
</file>