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57" r:id="rId6"/>
    <p:sldId id="283" r:id="rId7"/>
    <p:sldId id="287" r:id="rId8"/>
    <p:sldId id="284" r:id="rId9"/>
    <p:sldId id="288" r:id="rId10"/>
    <p:sldId id="286" r:id="rId11"/>
    <p:sldId id="289" r:id="rId12"/>
    <p:sldId id="291" r:id="rId13"/>
    <p:sldId id="290" r:id="rId14"/>
    <p:sldId id="282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Enablement for Gen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Chunking Strategies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/>
              <a:t>Fixed-size Chunking vs Semantic Chunking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BB8-F88F-D666-F290-2900F35F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Fixed-size Chunking (Basic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F1E4-E4A4-82BE-0128-F2305245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Split text into equal-sized chunks (e.g., 500 tokens each).</a:t>
            </a:r>
          </a:p>
          <a:p>
            <a:endParaRPr lang="en-US" b="1" dirty="0"/>
          </a:p>
          <a:p>
            <a:r>
              <a:rPr lang="en-US" b="1" dirty="0"/>
              <a:t>Pros</a:t>
            </a:r>
          </a:p>
          <a:p>
            <a:pPr lvl="1"/>
            <a:r>
              <a:rPr lang="en-US" dirty="0"/>
              <a:t>Easy to implement </a:t>
            </a:r>
          </a:p>
          <a:p>
            <a:pPr lvl="1"/>
            <a:r>
              <a:rPr lang="en-US" dirty="0"/>
              <a:t>Fast and predictable </a:t>
            </a:r>
          </a:p>
          <a:p>
            <a:pPr lvl="1"/>
            <a:r>
              <a:rPr lang="en-US" dirty="0"/>
              <a:t>Works reasonably well for structured or uniform text </a:t>
            </a:r>
          </a:p>
          <a:p>
            <a:r>
              <a:rPr lang="en-US" b="1" dirty="0"/>
              <a:t>Cons</a:t>
            </a:r>
          </a:p>
          <a:p>
            <a:pPr lvl="1"/>
            <a:r>
              <a:rPr lang="en-US" dirty="0"/>
              <a:t>Can break meaning mid-sentence or paragraph </a:t>
            </a:r>
          </a:p>
          <a:p>
            <a:pPr lvl="1"/>
            <a:r>
              <a:rPr lang="en-US" dirty="0"/>
              <a:t>Context may get fragmented </a:t>
            </a:r>
          </a:p>
          <a:p>
            <a:endParaRPr lang="en-US" b="1" dirty="0"/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Original text:</a:t>
            </a:r>
          </a:p>
          <a:p>
            <a:pPr lvl="2"/>
            <a:r>
              <a:rPr lang="en-US" dirty="0"/>
              <a:t>“Walmart reported strong Q2 revenue growth due to e-commerce expansion. However, operating costs increased due to logistics investments.”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Fixed-size chunking:</a:t>
            </a:r>
          </a:p>
          <a:p>
            <a:pPr lvl="2"/>
            <a:r>
              <a:rPr lang="en-US" dirty="0"/>
              <a:t>Chunk 1: “Walmart reported strong Q2 revenue growth due to e-commerce expansion. However,” </a:t>
            </a:r>
          </a:p>
          <a:p>
            <a:pPr lvl="2"/>
            <a:r>
              <a:rPr lang="en-US" dirty="0"/>
              <a:t>Chunk 2: “operating costs increased due to logistics investments.”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Problem: Meaning is split → weaker retrieval quality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60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9FFFB-BE61-2955-D1AF-2E106F7E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6D262-6E1E-2245-8A33-DF7D1FBE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Semantic Chunking (Smart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0971-FCA1-AE06-027C-19077C974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Split text based on meaning (sentences, paragraphs, topics).</a:t>
            </a:r>
          </a:p>
          <a:p>
            <a:endParaRPr lang="en-IN" b="1" dirty="0"/>
          </a:p>
          <a:p>
            <a:r>
              <a:rPr lang="en-IN" b="1" dirty="0"/>
              <a:t>Pros</a:t>
            </a:r>
          </a:p>
          <a:p>
            <a:pPr lvl="1"/>
            <a:r>
              <a:rPr lang="en-IN" dirty="0"/>
              <a:t>Preserves context and meaning </a:t>
            </a:r>
          </a:p>
          <a:p>
            <a:pPr lvl="1"/>
            <a:r>
              <a:rPr lang="en-IN" dirty="0"/>
              <a:t>Better retrieval accuracy </a:t>
            </a:r>
          </a:p>
          <a:p>
            <a:pPr lvl="1"/>
            <a:r>
              <a:rPr lang="en-IN" dirty="0"/>
              <a:t>Ideal for RAG systems </a:t>
            </a:r>
          </a:p>
          <a:p>
            <a:endParaRPr lang="en-IN" b="1" dirty="0"/>
          </a:p>
          <a:p>
            <a:r>
              <a:rPr lang="en-IN" b="1" dirty="0"/>
              <a:t>Cons</a:t>
            </a:r>
          </a:p>
          <a:p>
            <a:pPr lvl="1"/>
            <a:r>
              <a:rPr lang="en-IN" dirty="0"/>
              <a:t>Slightly more complex </a:t>
            </a:r>
          </a:p>
          <a:p>
            <a:pPr lvl="1"/>
            <a:r>
              <a:rPr lang="en-IN" dirty="0"/>
              <a:t>Requires NLP or heuristics </a:t>
            </a:r>
          </a:p>
          <a:p>
            <a:endParaRPr lang="en-IN" b="1" dirty="0"/>
          </a:p>
          <a:p>
            <a:r>
              <a:rPr lang="en-IN" b="1" dirty="0"/>
              <a:t>Example</a:t>
            </a:r>
          </a:p>
          <a:p>
            <a:pPr lvl="1"/>
            <a:r>
              <a:rPr lang="en-IN" dirty="0"/>
              <a:t>Semantic chunks:</a:t>
            </a:r>
          </a:p>
          <a:p>
            <a:pPr lvl="2"/>
            <a:r>
              <a:rPr lang="en-IN" dirty="0"/>
              <a:t>Chunk 1: Revenue growth due to e-commerce </a:t>
            </a:r>
          </a:p>
          <a:p>
            <a:pPr lvl="2"/>
            <a:r>
              <a:rPr lang="en-IN" dirty="0"/>
              <a:t>Chunk 2: Increased operating costs due to logistics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Much cleaner → better answers</a:t>
            </a:r>
          </a:p>
        </p:txBody>
      </p:sp>
    </p:spTree>
    <p:extLst>
      <p:ext uri="{BB962C8B-B14F-4D97-AF65-F5344CB8AC3E}">
        <p14:creationId xmlns:p14="http://schemas.microsoft.com/office/powerpoint/2010/main" val="43611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D3281-677F-AAE9-B21A-F626E8023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E55399-A3F5-A837-0A20-6080ACB2A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24B24-3E60-F785-E64E-DF710E03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/>
              <a:t>Chunk Overlap Trade-offs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357699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7D6E-6B4D-030A-23DF-5E990308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663B-C3E1-E999-9D99-08828BCB1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Chunk Overlap Trade-offs (Recall vs Redundancy)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2EBD0-D62A-DACD-D787-B8951A40B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What is Chunk Overlap?</a:t>
            </a:r>
          </a:p>
          <a:p>
            <a:pPr lvl="1"/>
            <a:r>
              <a:rPr lang="en-US" dirty="0"/>
              <a:t>Repeating some content between adjacent chunks.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Chunk 1: Tokens 1–500 </a:t>
            </a:r>
          </a:p>
          <a:p>
            <a:pPr lvl="2"/>
            <a:r>
              <a:rPr lang="en-US" dirty="0"/>
              <a:t>Chunk 2: Tokens 450–950 </a:t>
            </a:r>
          </a:p>
          <a:p>
            <a:pPr lvl="2"/>
            <a:r>
              <a:rPr lang="en-US" dirty="0"/>
              <a:t>Overlap = 50 tokens</a:t>
            </a:r>
          </a:p>
          <a:p>
            <a:endParaRPr lang="en-IN" b="1" dirty="0"/>
          </a:p>
          <a:p>
            <a:r>
              <a:rPr lang="en-IN" b="1" dirty="0"/>
              <a:t>Why Overlap Matters</a:t>
            </a:r>
          </a:p>
          <a:p>
            <a:pPr lvl="1"/>
            <a:r>
              <a:rPr lang="en-IN" b="1" dirty="0"/>
              <a:t>Improves Recall</a:t>
            </a:r>
          </a:p>
          <a:p>
            <a:pPr lvl="2"/>
            <a:r>
              <a:rPr lang="en-IN" dirty="0"/>
              <a:t>Ensures important info isn’t cut off </a:t>
            </a:r>
          </a:p>
          <a:p>
            <a:pPr lvl="2"/>
            <a:r>
              <a:rPr lang="en-IN" dirty="0"/>
              <a:t>Helps when queries span chunk boundaries </a:t>
            </a:r>
          </a:p>
          <a:p>
            <a:pPr lvl="1"/>
            <a:r>
              <a:rPr lang="en-IN" b="1" dirty="0"/>
              <a:t>Adds Redundancy</a:t>
            </a:r>
          </a:p>
          <a:p>
            <a:pPr lvl="2"/>
            <a:r>
              <a:rPr lang="en-IN" dirty="0"/>
              <a:t>Same content stored multiple times </a:t>
            </a:r>
          </a:p>
          <a:p>
            <a:pPr lvl="2"/>
            <a:r>
              <a:rPr lang="en-IN" dirty="0"/>
              <a:t>Higher cost (embedding + storage) </a:t>
            </a:r>
          </a:p>
          <a:p>
            <a:pPr lvl="2"/>
            <a:r>
              <a:rPr lang="en-IN" dirty="0"/>
              <a:t>Possible duplicate retrieval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9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42A93-48B6-A229-F234-70621CE20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E4080E-4C1D-3018-422D-13F1D3A7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A2A11B-1107-E2AA-937B-5F4BE5527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/>
              <a:t>Chunk size impact on retrieval accuracy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218010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5D156-C2CA-3BDE-BF71-487FC3219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3BE08-22D8-BC5C-52D5-315F06DA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Chunk Size Impact on Retrieval Accuracy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26AF0-3CDD-7AEC-03A4-4EAB50F4A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Why Chunk Size Matters</a:t>
            </a:r>
          </a:p>
          <a:p>
            <a:pPr lvl="1"/>
            <a:r>
              <a:rPr lang="en-IN" dirty="0"/>
              <a:t>Chunk size determines:</a:t>
            </a:r>
          </a:p>
          <a:p>
            <a:pPr lvl="2"/>
            <a:r>
              <a:rPr lang="en-IN" dirty="0"/>
              <a:t>How much context is stored </a:t>
            </a:r>
          </a:p>
          <a:p>
            <a:pPr lvl="2"/>
            <a:r>
              <a:rPr lang="en-IN" dirty="0"/>
              <a:t>How precise retrieval is </a:t>
            </a:r>
          </a:p>
          <a:p>
            <a:endParaRPr lang="en-IN" b="1" dirty="0"/>
          </a:p>
          <a:p>
            <a:r>
              <a:rPr lang="en-IN" b="1" dirty="0"/>
              <a:t>Small vs Large Chunks</a:t>
            </a:r>
          </a:p>
          <a:p>
            <a:pPr lvl="1"/>
            <a:r>
              <a:rPr lang="en-IN" b="1" dirty="0"/>
              <a:t>Small Chunks (100–300 tokens)</a:t>
            </a:r>
          </a:p>
          <a:p>
            <a:pPr lvl="2"/>
            <a:r>
              <a:rPr lang="en-IN" dirty="0"/>
              <a:t>Pros:</a:t>
            </a:r>
          </a:p>
          <a:p>
            <a:pPr lvl="3"/>
            <a:r>
              <a:rPr lang="en-IN" dirty="0"/>
              <a:t>More precise retrieval </a:t>
            </a:r>
          </a:p>
          <a:p>
            <a:pPr lvl="3"/>
            <a:r>
              <a:rPr lang="en-IN" dirty="0"/>
              <a:t>Less irrelevant data </a:t>
            </a:r>
          </a:p>
          <a:p>
            <a:pPr lvl="2"/>
            <a:r>
              <a:rPr lang="en-IN" dirty="0"/>
              <a:t>Cons:</a:t>
            </a:r>
          </a:p>
          <a:p>
            <a:pPr lvl="3"/>
            <a:r>
              <a:rPr lang="en-IN" dirty="0"/>
              <a:t>May lose context </a:t>
            </a:r>
          </a:p>
          <a:p>
            <a:pPr lvl="3"/>
            <a:r>
              <a:rPr lang="en-IN" dirty="0"/>
              <a:t>More chunks → more embeddings </a:t>
            </a:r>
          </a:p>
          <a:p>
            <a:pPr lvl="2"/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Query: “Why did profits decline?”</a:t>
            </a:r>
            <a:br>
              <a:rPr lang="en-IN" dirty="0"/>
            </a:br>
            <a:r>
              <a:rPr lang="en-IN" dirty="0"/>
              <a:t>→ Small chunk may only say “profits declined” without explanation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ED928F-CBAD-AAF1-15E6-C402213ED03B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/>
              <a:t>Large Chunks (800–1500 tokens)</a:t>
            </a:r>
          </a:p>
          <a:p>
            <a:pPr lvl="1"/>
            <a:r>
              <a:rPr lang="en-IN" sz="2000" dirty="0"/>
              <a:t>Pros:</a:t>
            </a:r>
          </a:p>
          <a:p>
            <a:pPr lvl="2"/>
            <a:r>
              <a:rPr lang="en-IN" sz="1800" dirty="0"/>
              <a:t>Rich context </a:t>
            </a:r>
          </a:p>
          <a:p>
            <a:pPr lvl="2"/>
            <a:r>
              <a:rPr lang="en-IN" sz="1800" dirty="0"/>
              <a:t>Better for complex reasoning </a:t>
            </a:r>
          </a:p>
          <a:p>
            <a:pPr lvl="1"/>
            <a:r>
              <a:rPr lang="en-IN" sz="2000" dirty="0"/>
              <a:t>Cons:</a:t>
            </a:r>
          </a:p>
          <a:p>
            <a:pPr lvl="2"/>
            <a:r>
              <a:rPr lang="en-IN" sz="1800" dirty="0"/>
              <a:t>Lower precision </a:t>
            </a:r>
          </a:p>
          <a:p>
            <a:pPr lvl="2"/>
            <a:r>
              <a:rPr lang="en-IN" sz="1800" dirty="0"/>
              <a:t>More irrelevant info included </a:t>
            </a:r>
          </a:p>
          <a:p>
            <a:pPr lvl="1"/>
            <a:r>
              <a:rPr lang="en-IN" sz="2000" dirty="0"/>
              <a:t>Example: Query returns:</a:t>
            </a:r>
          </a:p>
          <a:p>
            <a:pPr lvl="2"/>
            <a:r>
              <a:rPr lang="en-IN" sz="1800" dirty="0"/>
              <a:t>Entire financial report section</a:t>
            </a:r>
            <a:br>
              <a:rPr lang="en-IN" sz="1800" dirty="0"/>
            </a:br>
            <a:r>
              <a:rPr lang="en-IN" sz="1800" dirty="0"/>
              <a:t>→ Model must “search within chunk”</a:t>
            </a:r>
          </a:p>
        </p:txBody>
      </p:sp>
    </p:spTree>
    <p:extLst>
      <p:ext uri="{BB962C8B-B14F-4D97-AF65-F5344CB8AC3E}">
        <p14:creationId xmlns:p14="http://schemas.microsoft.com/office/powerpoint/2010/main" val="2783738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55A5F-94D9-7BDF-5CFE-5A1BE768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ED2DB9-43FF-AE16-57F1-0AF8527C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0B991-3352-7608-F43E-2E2A6727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/>
              <a:t>Document-type-aware chunking (code, text, PDFs)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804841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EADF-E735-7AE8-C340-31ABD227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6C55-2592-7B4C-041D-5F811993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Chunk Size Impact on Retrieval Accuracy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4DF0E-1A84-C6B6-C5AE-CBD81F219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Plain Text (Reports, Articles)</a:t>
            </a:r>
          </a:p>
          <a:p>
            <a:pPr lvl="1"/>
            <a:r>
              <a:rPr lang="en-US" sz="2000" b="1" dirty="0"/>
              <a:t>Strategy:</a:t>
            </a:r>
          </a:p>
          <a:p>
            <a:pPr lvl="2"/>
            <a:r>
              <a:rPr lang="en-US" sz="1800" dirty="0"/>
              <a:t>Paragraph-based chunking </a:t>
            </a:r>
          </a:p>
          <a:p>
            <a:pPr lvl="2"/>
            <a:r>
              <a:rPr lang="en-US" sz="1800" dirty="0"/>
              <a:t>Preserve headings</a:t>
            </a:r>
          </a:p>
          <a:p>
            <a:r>
              <a:rPr lang="en-US" sz="2400" b="1" dirty="0"/>
              <a:t>Code</a:t>
            </a:r>
          </a:p>
          <a:p>
            <a:pPr lvl="1"/>
            <a:r>
              <a:rPr lang="en-US" sz="2000" b="1" dirty="0"/>
              <a:t>Strategy:</a:t>
            </a:r>
          </a:p>
          <a:p>
            <a:pPr lvl="2"/>
            <a:r>
              <a:rPr lang="en-US" sz="1800" dirty="0"/>
              <a:t>Chunk by functions/classes </a:t>
            </a:r>
          </a:p>
          <a:p>
            <a:pPr lvl="2"/>
            <a:r>
              <a:rPr lang="en-US" sz="1800" dirty="0"/>
              <a:t>Never split mid-function</a:t>
            </a:r>
          </a:p>
          <a:p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F37B71-F5DA-297C-1DCA-759B2DED5728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PDFs (Especially Enterprise Docs)</a:t>
            </a:r>
          </a:p>
          <a:p>
            <a:pPr lvl="1"/>
            <a:r>
              <a:rPr lang="en-US" sz="2000" b="1" dirty="0"/>
              <a:t>Challenges:</a:t>
            </a:r>
          </a:p>
          <a:p>
            <a:pPr lvl="2"/>
            <a:r>
              <a:rPr lang="en-US" sz="1600" dirty="0"/>
              <a:t>Tables </a:t>
            </a:r>
          </a:p>
          <a:p>
            <a:pPr lvl="2"/>
            <a:r>
              <a:rPr lang="en-US" sz="1600" dirty="0"/>
              <a:t>Headers/footers </a:t>
            </a:r>
          </a:p>
          <a:p>
            <a:pPr lvl="2"/>
            <a:r>
              <a:rPr lang="en-US" sz="1600" dirty="0"/>
              <a:t>Multi-column layouts </a:t>
            </a:r>
          </a:p>
          <a:p>
            <a:pPr lvl="1"/>
            <a:r>
              <a:rPr lang="en-US" sz="2000" b="1" dirty="0"/>
              <a:t>Strategy:	</a:t>
            </a:r>
          </a:p>
          <a:p>
            <a:pPr lvl="2"/>
            <a:r>
              <a:rPr lang="en-US" sz="1600" dirty="0"/>
              <a:t>Extract structure first </a:t>
            </a:r>
          </a:p>
          <a:p>
            <a:pPr lvl="2"/>
            <a:r>
              <a:rPr lang="en-US" sz="1600" dirty="0"/>
              <a:t>Chunk by sections</a:t>
            </a:r>
          </a:p>
          <a:p>
            <a:r>
              <a:rPr lang="en-US" sz="2400" b="1" dirty="0"/>
              <a:t>Tables</a:t>
            </a:r>
          </a:p>
          <a:p>
            <a:pPr lvl="1"/>
            <a:r>
              <a:rPr lang="en-US" sz="2000" b="1" dirty="0"/>
              <a:t>Strategy:</a:t>
            </a:r>
          </a:p>
          <a:p>
            <a:pPr lvl="2"/>
            <a:r>
              <a:rPr lang="en-US" sz="1600" dirty="0"/>
              <a:t>Keep rows together </a:t>
            </a:r>
          </a:p>
          <a:p>
            <a:pPr lvl="2"/>
            <a:r>
              <a:rPr lang="en-US" sz="1600" dirty="0"/>
              <a:t>Add headers to each chunk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78331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B5A38-B9E2-9848-9FCA-8E6E9F19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63FD-8888-58BD-78E6-1E1660D3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Document-Type-Aware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3E898-F96E-5705-CDCF-169734494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 of chunking like cutting a book into pieces:</a:t>
            </a:r>
          </a:p>
          <a:p>
            <a:pPr lvl="1"/>
            <a:r>
              <a:rPr lang="en-US" b="1" dirty="0"/>
              <a:t>Fixed-size</a:t>
            </a:r>
            <a:r>
              <a:rPr lang="en-US" dirty="0"/>
              <a:t> = cutting every 10 pages blindly </a:t>
            </a:r>
          </a:p>
          <a:p>
            <a:pPr lvl="1"/>
            <a:r>
              <a:rPr lang="en-US" b="1" dirty="0"/>
              <a:t>Semantic </a:t>
            </a:r>
            <a:r>
              <a:rPr lang="en-US" dirty="0"/>
              <a:t>= cutting chapter by chapter </a:t>
            </a:r>
          </a:p>
          <a:p>
            <a:pPr lvl="1"/>
            <a:r>
              <a:rPr lang="en-US" b="1" dirty="0"/>
              <a:t>Overlap </a:t>
            </a:r>
            <a:r>
              <a:rPr lang="en-US" dirty="0"/>
              <a:t>= copying a few lines between chapters </a:t>
            </a:r>
          </a:p>
          <a:p>
            <a:pPr lvl="1"/>
            <a:r>
              <a:rPr lang="en-US" b="1" dirty="0"/>
              <a:t>Chunk size </a:t>
            </a:r>
            <a:r>
              <a:rPr lang="en-US" dirty="0"/>
              <a:t>= how big each chapter 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407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E82C-20D6-BE62-C2BE-13A40A8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B474-E6FD-15E1-06BB-B9A1E6E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72EB-0C47-7A9D-0A30-CF5CE68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RAG Pipeline </a:t>
            </a:r>
            <a:r>
              <a:rPr lang="en-IN" dirty="0"/>
              <a:t>with multi-document + source attribution</a:t>
            </a:r>
          </a:p>
          <a:p>
            <a:pPr lvl="1"/>
            <a:r>
              <a:rPr lang="en-IN" dirty="0"/>
              <a:t>Fixed and </a:t>
            </a:r>
            <a:r>
              <a:rPr lang="en-IN"/>
              <a:t>overlap chunking</a:t>
            </a:r>
          </a:p>
          <a:p>
            <a:pPr lvl="1"/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90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516</Words>
  <Application>Microsoft Office PowerPoint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Neue Haas Grotesk Text Pro</vt:lpstr>
      <vt:lpstr>Office Theme</vt:lpstr>
      <vt:lpstr>1_Office Theme</vt:lpstr>
      <vt:lpstr>Python Enablement for Gen AI</vt:lpstr>
      <vt:lpstr>Chunking Strategies</vt:lpstr>
      <vt:lpstr>Fixed-size Chunking vs Semantic Chunking</vt:lpstr>
      <vt:lpstr>Fixed-size Chunking (Basic Approach)</vt:lpstr>
      <vt:lpstr>Semantic Chunking (Smart Approach)</vt:lpstr>
      <vt:lpstr>Chunk Overlap Trade-offs</vt:lpstr>
      <vt:lpstr>Chunk Overlap Trade-offs (Recall vs Redundancy)</vt:lpstr>
      <vt:lpstr>Chunk size impact on retrieval accuracy</vt:lpstr>
      <vt:lpstr>Chunk Size Impact on Retrieval Accuracy</vt:lpstr>
      <vt:lpstr>Document-type-aware chunking (code, text, PDFs)</vt:lpstr>
      <vt:lpstr>Chunk Size Impact on Retrieval Accuracy</vt:lpstr>
      <vt:lpstr>Document-Type-Aware Chunking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39</cp:revision>
  <dcterms:created xsi:type="dcterms:W3CDTF">2026-04-01T13:32:53Z</dcterms:created>
  <dcterms:modified xsi:type="dcterms:W3CDTF">2026-04-17T07:23:49Z</dcterms:modified>
</cp:coreProperties>
</file>