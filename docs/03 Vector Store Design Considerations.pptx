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62" r:id="rId4"/>
    <p:sldId id="264" r:id="rId5"/>
    <p:sldId id="257" r:id="rId6"/>
    <p:sldId id="287" r:id="rId7"/>
    <p:sldId id="284" r:id="rId8"/>
    <p:sldId id="288" r:id="rId9"/>
    <p:sldId id="289" r:id="rId10"/>
    <p:sldId id="290" r:id="rId11"/>
    <p:sldId id="291" r:id="rId12"/>
    <p:sldId id="292" r:id="rId13"/>
    <p:sldId id="293" r:id="rId14"/>
    <p:sldId id="282" r:id="rId15"/>
    <p:sldId id="295" r:id="rId16"/>
    <p:sldId id="296" r:id="rId17"/>
    <p:sldId id="294" r:id="rId18"/>
    <p:sldId id="27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854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536CE-E45A-AADF-17CE-62DCAD60B5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CA8B13-14FB-FC7A-AE8D-0443EF205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FAD22-9F50-C88D-0933-C106D418B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D7579-5794-CC00-C045-B791FA7AE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AFCF2-0DEB-5B31-B526-62EBC37E0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64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DAFE-2D34-239C-C11E-0D5AB8D34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CBE48-7C5D-6D04-0FBA-FAAF900AF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593B1-9F48-9719-053B-3F5ADE53D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69231-46AC-F57A-D902-8D0F88958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3FE03-8F2E-103E-11D0-A27621A03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434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78430-BCAB-1B0F-AF15-F0E893C43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653EE-F384-CF59-792F-FF4158140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20D31-6CAE-2FB6-153A-B7FF19081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B98F5-8D12-377B-65EF-BC8BE45B7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29027-F24E-A076-D94C-44638BBC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764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7A3F7-DD0E-44ED-4EEB-249AABF7B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C653D-D49D-A4FA-4A90-363F30C233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149514-69B0-9D75-AB75-91B84E81F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3F0CED-BEE9-51BC-66AD-2DB565B39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2C858-6BD8-6F6C-18CC-DD61025D4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96E2B-3604-BDC8-E54A-4D85F5C24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386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02470-824B-4058-2C01-DBE9700C8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100F9-D38B-36A7-7D45-54A621844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87207-1406-713D-69FC-90C0D7191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A808A8-687A-6C13-295A-A029B1E363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54EB28-8FF5-8565-09EB-0291EA601C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C54A18-0C92-2393-045B-6CAF563B7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1FF9CC-DC04-60BA-6C96-F30AC957B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5D9D53-A54F-89EC-CCAB-979C254D0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737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02C45-D1E3-2607-6828-9CCF3A969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5398FC-392A-FDAB-C7AE-E6210BBDA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744E78-47C2-5F62-E4D8-2E5E7FD16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CD9E7-7BAD-60B2-B129-E58DFACE4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894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D6826F-7C9B-389B-D3BE-3E86EEAEE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A1C3F-136F-9E45-0514-741B20986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01C8C-4DBE-3D21-FAB2-B0DB4A6D8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227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F5A2E-0099-9832-239F-CA04757EB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FC63F-2D86-A29C-17EC-75FA93EC3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A19F38-C99B-AA2D-6575-D974606101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C0AA0-FA71-3666-DC1C-D1D8732E1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92665-8BD3-E58B-6F97-5F3F0AEE9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664A6-5CAB-99D8-788D-084B8C74A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304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57889-AEA8-4506-EEA2-454B0813A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5FF9DB-8691-04E9-6B36-86362522E9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98241-823E-96F4-D240-F61FF2CAA0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39A56-F6AD-8E3F-E2B7-79D0D078F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6FDB3-0344-BE41-9AB9-32C3CF269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70EA6-15F8-B839-7E6E-C5576FCE6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914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A7AAF-EE17-169F-1AB6-E30AED053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700CEB-5076-D9B7-2D28-2017F009BF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B8B1B-89D7-F2B2-62B6-12397E624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E3F9E-F277-4FED-D74A-80D7A5A42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6B7DE-F8D2-63C1-1000-F79563564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226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DA0CC6-6B5F-7A14-1AF5-214FD7F5B8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A75CF6-B132-E92D-42E9-B6BEF4BAF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F2626-8B84-38A1-4301-6C45FB0C6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D5142-E250-53BE-3BE7-1F85F5F0D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54A1F-596C-82D3-CF4F-46032471E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456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412CF-0A97-D6E9-08A7-94B404CA0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EF4C72-1FF5-95FF-2EF5-016E4E776A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A4C1B-20B9-D303-48D5-5152F3EC9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0320-3EA4-D740-5867-EAF5C6D9F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17687-1800-6FBB-6366-35F680C7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442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45846-BF1A-FDA3-AF21-CBDF3817E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5D219-9850-A749-A812-DCC6A050A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E396F-1B23-F3A3-0511-71220548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DEF52-9446-668B-36C9-2DBE413EC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B32EA-BB8E-1A78-E352-195F8DE45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257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34D0-95D6-2A03-AEFF-31BFE64BD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41E04-482B-9185-BE1B-F30C178B7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69F5A-895A-3E20-0F99-18FC81F59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99B35-6AE6-0716-0A3B-488AE99C9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CC7CD-8462-7600-CB80-9ADFC4A59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806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1805A-E41A-7AD3-9215-E24984304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7EFB5-C607-A863-1696-A0DCDD2A63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BF1F4-07D4-6A3A-23A7-7F12DC4E74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76EC5-E88E-A84C-B7F6-A24DA323C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D5988-64CC-0BEF-4262-41FDF2C69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38D28-03B2-C58F-3362-A1606E2F0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278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48FA1-C0E2-F799-F99A-14B661670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BE08B-D183-C98F-15F4-3923564B4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C617D-6738-8322-64CF-3306D9E90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C13EF-8921-21AF-446E-43A50265D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2E4F52-35E7-61A4-8AF5-CC7A3A980A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5B8D9-D5AA-5FBB-6C8B-94BD962B9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C2B31D-3BC9-100D-3FFE-311A0E85A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47A129-04E8-C66F-66B9-C93EBD408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8236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4F029-C3BC-0946-5B46-27A62C277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CEDA22-AFE9-0D01-CE95-7689B19E5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270DA7-E55B-3D04-08C6-1A5D4AC69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1A3DB6-CC78-4E99-BF39-B6631CF57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009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2D5020-86FF-29D2-CF0B-41FA1C497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12C0C5-2392-1961-1D1D-25D58044F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6E48B-1C67-4D12-8E10-27AC939FF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176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6C026-103E-B109-AB8C-6D44A5153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64F4-13F5-17BC-858F-A91D84A40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961AB-963E-1504-72A4-A1AB17056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23EF0-71CA-2AA7-FBD0-CEDA44B0D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5D4D8-83C7-F4C3-84E7-A35FB3495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1641F8-F4E2-CAA8-4C5E-A526C2227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4342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BA75A-F806-44FF-F25C-125C9BF22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D945C1-A2FF-5B51-8FCC-CD265E642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4E7DE-6EF8-8E36-0FA4-D6C69C648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B6497-FC12-FC5C-D1BE-CB3468C57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604F6-DC90-44B8-7B77-6063A2FEE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ADB8FD-00F8-B052-388B-DA323B887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6792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979D5-D78B-51A4-D507-10241BD86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20A1C5-E115-C982-D300-680CB9BCF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8A9CA-6D71-4F05-0745-C5908856A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3D602-75B8-A654-AB57-B81FC5305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8E863-DEB4-4044-F68B-76F80BE5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2799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A36B2D-9F42-4E6C-811E-EBB1C46CF7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B7E0C-5FD8-5909-7828-CFF87FAF9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09456-A7F9-B919-EDFF-77A9B8A48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707C0-423A-49F8-7B06-1915C0E0A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6D5D8-78EF-1E5F-018E-6A0B3F2C1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8568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C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C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736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039B7D-65D6-46E6-4D0D-5248DE315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7C1B3-42BF-1C76-BE2B-E8E0F8BF6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7298E-FF3A-263A-A4F6-F667A54D7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9BD994-088D-4DFC-A63A-488DD3725837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B327C-5432-928A-78F3-525A01773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ACEFF-1A2F-E90C-1E3A-45B9DFF323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30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3E9012-068E-580E-8B8F-2451EB4A5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532D6-39DA-958D-51DB-1D71DCBEE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65381-025A-C3E2-9A48-96CFE8B98D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816CEB-1072-4B22-A473-588D7AF62EB2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45B3F-F87A-E427-9837-304E169A5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87EC7-7BD1-4047-A8C3-498FD35E1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127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A831E-D1DB-BDE8-DA0F-9D8044D8A6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Enablement for Gen AI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315B3B-2A6A-942B-EC5D-131373CA56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Ajay J. Singala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0139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C374A9-1785-AE64-2B0A-D1C59FC72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Vector Store Design Considerations</a:t>
            </a: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F5BD1-2BC9-18E1-BE9F-FC9DE6E25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5006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E8498D-DA8F-EF6C-5420-F153D4979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E39696-2F4E-A3CB-2B45-0571098FE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dirty="0"/>
              <a:t>Vector Store Responsibilities in RAG</a:t>
            </a:r>
            <a:endParaRPr lang="en-US" sz="7400" b="1" dirty="0"/>
          </a:p>
        </p:txBody>
      </p:sp>
    </p:spTree>
    <p:extLst>
      <p:ext uri="{BB962C8B-B14F-4D97-AF65-F5344CB8AC3E}">
        <p14:creationId xmlns:p14="http://schemas.microsoft.com/office/powerpoint/2010/main" val="3004392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FEBB8-F88F-D666-F290-2900F35F9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a vector store actually do?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FF1E4-E4A4-82BE-0128-F23052451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Think of it as the </a:t>
            </a:r>
            <a:r>
              <a:rPr lang="en-US" b="1" dirty="0"/>
              <a:t>“memory + search engine”</a:t>
            </a:r>
            <a:r>
              <a:rPr lang="en-US" dirty="0"/>
              <a:t> of your GenAI system.</a:t>
            </a:r>
          </a:p>
          <a:p>
            <a:r>
              <a:rPr lang="en-US" b="1" dirty="0"/>
              <a:t>Core responsibilities:</a:t>
            </a:r>
          </a:p>
          <a:p>
            <a:pPr lvl="1"/>
            <a:r>
              <a:rPr lang="en-US" b="1" dirty="0"/>
              <a:t>Store embeddings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Converts documents into vectors (numbers) </a:t>
            </a:r>
          </a:p>
          <a:p>
            <a:pPr lvl="2"/>
            <a:r>
              <a:rPr lang="en-US" dirty="0"/>
              <a:t>Stores them efficiently </a:t>
            </a:r>
          </a:p>
          <a:p>
            <a:pPr lvl="1"/>
            <a:r>
              <a:rPr lang="en-US" b="1" dirty="0"/>
              <a:t>Enable similarity search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Finds “closest meaning” matches, not exact keywords </a:t>
            </a:r>
          </a:p>
          <a:p>
            <a:pPr lvl="1"/>
            <a:r>
              <a:rPr lang="en-US" b="1" dirty="0"/>
              <a:t>Return relevant context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Supplies chunks to the LLM for grounded answers </a:t>
            </a:r>
          </a:p>
          <a:p>
            <a:endParaRPr lang="en-US" dirty="0"/>
          </a:p>
          <a:p>
            <a:r>
              <a:rPr lang="en-US" b="1" dirty="0"/>
              <a:t>Example (Retail Context)</a:t>
            </a:r>
          </a:p>
          <a:p>
            <a:pPr lvl="1"/>
            <a:r>
              <a:rPr lang="en-US" b="1" dirty="0"/>
              <a:t>User query:</a:t>
            </a:r>
            <a:br>
              <a:rPr lang="en-US" dirty="0"/>
            </a:br>
            <a:r>
              <a:rPr lang="en-US" dirty="0"/>
              <a:t>“Why are we seeing stockouts in electronics?”</a:t>
            </a:r>
          </a:p>
          <a:p>
            <a:endParaRPr lang="en-US" b="1" dirty="0"/>
          </a:p>
          <a:p>
            <a:r>
              <a:rPr lang="en-US" b="1" dirty="0"/>
              <a:t>Vector store role:</a:t>
            </a:r>
            <a:endParaRPr lang="en-US" dirty="0"/>
          </a:p>
          <a:p>
            <a:pPr lvl="1"/>
            <a:r>
              <a:rPr lang="en-US" dirty="0"/>
              <a:t>Searches embeddings of: </a:t>
            </a:r>
          </a:p>
          <a:p>
            <a:pPr lvl="2"/>
            <a:r>
              <a:rPr lang="en-US" dirty="0"/>
              <a:t>Inventory reports </a:t>
            </a:r>
          </a:p>
          <a:p>
            <a:pPr lvl="2"/>
            <a:r>
              <a:rPr lang="en-US" dirty="0"/>
              <a:t>Supply chain logs </a:t>
            </a:r>
          </a:p>
          <a:p>
            <a:pPr lvl="2"/>
            <a:r>
              <a:rPr lang="en-US" dirty="0"/>
              <a:t>Forecasting documents </a:t>
            </a:r>
          </a:p>
          <a:p>
            <a:pPr lvl="1"/>
            <a:r>
              <a:rPr lang="en-US" dirty="0"/>
              <a:t>Returns relevant chunks like: </a:t>
            </a:r>
          </a:p>
          <a:p>
            <a:pPr lvl="2"/>
            <a:r>
              <a:rPr lang="en-US" dirty="0"/>
              <a:t>“Supplier delays in Q3 impacted electronics inventory” </a:t>
            </a:r>
          </a:p>
          <a:p>
            <a:pPr lvl="2"/>
            <a:r>
              <a:rPr lang="en-US" dirty="0"/>
              <a:t>“Demand spike during festive season” </a:t>
            </a:r>
          </a:p>
          <a:p>
            <a:pPr lvl="1"/>
            <a:r>
              <a:rPr lang="en-US" dirty="0"/>
              <a:t>LLM then uses this to generate an answer.</a:t>
            </a:r>
          </a:p>
        </p:txBody>
      </p:sp>
    </p:spTree>
    <p:extLst>
      <p:ext uri="{BB962C8B-B14F-4D97-AF65-F5344CB8AC3E}">
        <p14:creationId xmlns:p14="http://schemas.microsoft.com/office/powerpoint/2010/main" val="1344605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8D3281-677F-AAE9-B21A-F626E8023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7E55399-A3F5-A837-0A20-6080ACB2A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D24B24-3E60-F785-E64E-DF710E038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8000" dirty="0"/>
              <a:t>Indexing vs Query-Time Trade-offs</a:t>
            </a:r>
            <a:endParaRPr lang="en-US" sz="7400" b="1" dirty="0"/>
          </a:p>
        </p:txBody>
      </p:sp>
    </p:spTree>
    <p:extLst>
      <p:ext uri="{BB962C8B-B14F-4D97-AF65-F5344CB8AC3E}">
        <p14:creationId xmlns:p14="http://schemas.microsoft.com/office/powerpoint/2010/main" val="33576996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A7D6E-6B4D-030A-23DF-5E990308E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E663B-C3E1-E999-9D99-08828BCB1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Indexing Time (Pre-processing phase)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2EBD0-D62A-DACD-D787-B8951A40B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Work done </a:t>
            </a:r>
            <a:r>
              <a:rPr lang="en-IN" b="1" dirty="0"/>
              <a:t>before users ask questions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Chunking documents </a:t>
            </a:r>
          </a:p>
          <a:p>
            <a:pPr lvl="1"/>
            <a:r>
              <a:rPr lang="en-IN" dirty="0"/>
              <a:t>Creating embeddings </a:t>
            </a:r>
          </a:p>
          <a:p>
            <a:pPr lvl="1"/>
            <a:r>
              <a:rPr lang="en-IN" dirty="0"/>
              <a:t>Storing metadata </a:t>
            </a:r>
          </a:p>
          <a:p>
            <a:endParaRPr lang="en-IN" b="1" dirty="0"/>
          </a:p>
          <a:p>
            <a:r>
              <a:rPr lang="en-IN" b="1" dirty="0"/>
              <a:t>Pros:</a:t>
            </a:r>
          </a:p>
          <a:p>
            <a:pPr lvl="1"/>
            <a:r>
              <a:rPr lang="en-IN" dirty="0"/>
              <a:t>Faster query response</a:t>
            </a:r>
          </a:p>
          <a:p>
            <a:pPr lvl="1"/>
            <a:r>
              <a:rPr lang="en-IN" dirty="0"/>
              <a:t>Better structured retrieval</a:t>
            </a:r>
          </a:p>
          <a:p>
            <a:pPr lvl="1"/>
            <a:r>
              <a:rPr lang="en-IN" dirty="0"/>
              <a:t>Scales well</a:t>
            </a:r>
          </a:p>
          <a:p>
            <a:endParaRPr lang="en-IN" b="1" dirty="0"/>
          </a:p>
          <a:p>
            <a:r>
              <a:rPr lang="en-IN" b="1" dirty="0"/>
              <a:t>Cons:</a:t>
            </a:r>
          </a:p>
          <a:p>
            <a:pPr lvl="1"/>
            <a:r>
              <a:rPr lang="en-IN" dirty="0"/>
              <a:t>Higher upfront cost</a:t>
            </a:r>
          </a:p>
          <a:p>
            <a:pPr lvl="1"/>
            <a:r>
              <a:rPr lang="en-IN" dirty="0"/>
              <a:t>Needs re-indexing if data changes</a:t>
            </a:r>
          </a:p>
        </p:txBody>
      </p:sp>
    </p:spTree>
    <p:extLst>
      <p:ext uri="{BB962C8B-B14F-4D97-AF65-F5344CB8AC3E}">
        <p14:creationId xmlns:p14="http://schemas.microsoft.com/office/powerpoint/2010/main" val="3146094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D3E28-A1C8-EC04-17C3-849EF9ED2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D249E-1791-486A-5212-536A8A046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Query-Time (On-demand processing)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272D-80FB-AA44-EC86-59A5F9EFA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Work done </a:t>
            </a:r>
            <a:r>
              <a:rPr lang="en-US" b="1" dirty="0"/>
              <a:t>when the user asks a question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Generate embeddings on the fly </a:t>
            </a:r>
          </a:p>
          <a:p>
            <a:pPr lvl="1"/>
            <a:r>
              <a:rPr lang="en-US" dirty="0"/>
              <a:t>Fetch or process documents dynamically </a:t>
            </a:r>
          </a:p>
          <a:p>
            <a:endParaRPr lang="en-US" b="1" dirty="0"/>
          </a:p>
          <a:p>
            <a:r>
              <a:rPr lang="en-US" b="1" dirty="0"/>
              <a:t>Pros:</a:t>
            </a:r>
          </a:p>
          <a:p>
            <a:pPr lvl="1"/>
            <a:r>
              <a:rPr lang="en-US" dirty="0"/>
              <a:t>Always fresh data</a:t>
            </a:r>
          </a:p>
          <a:p>
            <a:pPr lvl="1"/>
            <a:r>
              <a:rPr lang="en-US" dirty="0"/>
              <a:t>Less upfront work</a:t>
            </a:r>
          </a:p>
          <a:p>
            <a:endParaRPr lang="en-US" b="1" dirty="0"/>
          </a:p>
          <a:p>
            <a:r>
              <a:rPr lang="en-US" b="1" dirty="0"/>
              <a:t>Cons:</a:t>
            </a:r>
          </a:p>
          <a:p>
            <a:pPr lvl="1"/>
            <a:r>
              <a:rPr lang="en-US" dirty="0"/>
              <a:t>Slower responses</a:t>
            </a:r>
          </a:p>
          <a:p>
            <a:pPr lvl="1"/>
            <a:r>
              <a:rPr lang="en-US" dirty="0"/>
              <a:t>Higher latency</a:t>
            </a:r>
          </a:p>
          <a:p>
            <a:pPr lvl="1"/>
            <a:r>
              <a:rPr lang="en-US" dirty="0"/>
              <a:t>More compute cost per query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519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D759F-2013-F976-6A2D-ACF2DF2A1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C93EB-AD22-8307-5165-3ECD35A05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15F55-3AAC-66C7-69B3-6DC00389B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Scenario A: Pre-indexed (Indexing heavy)</a:t>
            </a:r>
          </a:p>
          <a:p>
            <a:pPr lvl="1"/>
            <a:r>
              <a:rPr lang="en-IN" dirty="0"/>
              <a:t>Walmart pre-indexes: </a:t>
            </a:r>
          </a:p>
          <a:p>
            <a:pPr lvl="2"/>
            <a:r>
              <a:rPr lang="en-IN" dirty="0"/>
              <a:t>Product </a:t>
            </a:r>
            <a:r>
              <a:rPr lang="en-IN" dirty="0" err="1"/>
              <a:t>catalogs</a:t>
            </a:r>
            <a:r>
              <a:rPr lang="en-IN" dirty="0"/>
              <a:t> </a:t>
            </a:r>
          </a:p>
          <a:p>
            <a:pPr lvl="2"/>
            <a:r>
              <a:rPr lang="en-IN" dirty="0"/>
              <a:t>Inventory logs </a:t>
            </a:r>
          </a:p>
          <a:p>
            <a:pPr lvl="1"/>
            <a:r>
              <a:rPr lang="en-IN" dirty="0"/>
              <a:t>Query: “Top selling items last month?”</a:t>
            </a:r>
          </a:p>
          <a:p>
            <a:pPr lvl="1"/>
            <a:r>
              <a:rPr lang="en-IN" dirty="0"/>
              <a:t>Response: Fast (data already indexed)</a:t>
            </a:r>
          </a:p>
          <a:p>
            <a:endParaRPr lang="en-IN" dirty="0"/>
          </a:p>
          <a:p>
            <a:r>
              <a:rPr lang="en-IN" b="1" dirty="0"/>
              <a:t>Scenario B: Query-time heavy</a:t>
            </a:r>
          </a:p>
          <a:p>
            <a:pPr lvl="1"/>
            <a:r>
              <a:rPr lang="en-IN" dirty="0"/>
              <a:t>System fetches raw data from database at query time </a:t>
            </a:r>
          </a:p>
          <a:p>
            <a:pPr lvl="1"/>
            <a:r>
              <a:rPr lang="en-IN" dirty="0"/>
              <a:t>Same query</a:t>
            </a:r>
          </a:p>
          <a:p>
            <a:pPr lvl="1"/>
            <a:r>
              <a:rPr lang="en-IN" dirty="0"/>
              <a:t>Response: Slower due to processing</a:t>
            </a:r>
          </a:p>
        </p:txBody>
      </p:sp>
    </p:spTree>
    <p:extLst>
      <p:ext uri="{BB962C8B-B14F-4D97-AF65-F5344CB8AC3E}">
        <p14:creationId xmlns:p14="http://schemas.microsoft.com/office/powerpoint/2010/main" val="1017445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0E3BF9-48FC-FD92-4CA3-FF43E352D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385D8B7-318B-C391-0061-AA5A20AF6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13D3CA-1025-926E-6E45-50455A086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8000" dirty="0"/>
              <a:t>Metadata Storage and Filtering</a:t>
            </a:r>
            <a:endParaRPr lang="en-US" sz="7400" b="1" dirty="0"/>
          </a:p>
        </p:txBody>
      </p:sp>
    </p:spTree>
    <p:extLst>
      <p:ext uri="{BB962C8B-B14F-4D97-AF65-F5344CB8AC3E}">
        <p14:creationId xmlns:p14="http://schemas.microsoft.com/office/powerpoint/2010/main" val="7020748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09B1-4771-D931-B410-47CED974B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62FBF-0101-1932-8CA5-699085F9C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What is metadata?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5CEF2-E6F5-151A-9452-F9C37FBED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en-US" dirty="0"/>
              <a:t>Extra information attached to each chunk.</a:t>
            </a:r>
          </a:p>
          <a:p>
            <a:r>
              <a:rPr lang="en-US" b="1" dirty="0"/>
              <a:t>Examples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Document source </a:t>
            </a:r>
          </a:p>
          <a:p>
            <a:pPr lvl="1"/>
            <a:r>
              <a:rPr lang="en-US" dirty="0"/>
              <a:t>Date </a:t>
            </a:r>
          </a:p>
          <a:p>
            <a:pPr lvl="1"/>
            <a:r>
              <a:rPr lang="en-US" dirty="0"/>
              <a:t>Region </a:t>
            </a:r>
          </a:p>
          <a:p>
            <a:pPr lvl="1"/>
            <a:r>
              <a:rPr lang="en-US" dirty="0"/>
              <a:t>Department </a:t>
            </a:r>
          </a:p>
          <a:p>
            <a:pPr lvl="1"/>
            <a:r>
              <a:rPr lang="en-US" dirty="0"/>
              <a:t>File name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0BCA620-EAB4-667B-128E-854ECA01446D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Example Query:</a:t>
            </a:r>
          </a:p>
          <a:p>
            <a:pPr marL="457200" lvl="1" indent="0">
              <a:buNone/>
            </a:pPr>
            <a:r>
              <a:rPr lang="en-US" sz="1800" dirty="0"/>
              <a:t>“Inventory issues in Mumbai stores last week”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Without metadata:</a:t>
            </a:r>
          </a:p>
          <a:p>
            <a:pPr lvl="2"/>
            <a:r>
              <a:rPr lang="en-US" dirty="0"/>
              <a:t>You may get irrelevant results from other cities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With metadata:</a:t>
            </a:r>
          </a:p>
          <a:p>
            <a:pPr lvl="2"/>
            <a:r>
              <a:rPr lang="en-US" dirty="0"/>
              <a:t>Filter: </a:t>
            </a:r>
          </a:p>
          <a:p>
            <a:pPr lvl="3"/>
            <a:r>
              <a:rPr lang="en-US" dirty="0"/>
              <a:t>Location = Mumbai </a:t>
            </a:r>
          </a:p>
          <a:p>
            <a:pPr lvl="3"/>
            <a:r>
              <a:rPr lang="en-US" dirty="0"/>
              <a:t>Date = last week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Much more accurate results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001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5A777-987F-48E9-280C-C15A54C7A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F3D24-4FE9-40CC-FF11-F95C3EB3B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Types of metadata you should store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FA5BF-BE87-C016-5179-1CF587083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Location (store, region)</a:t>
            </a:r>
          </a:p>
          <a:p>
            <a:r>
              <a:rPr lang="en-US" dirty="0"/>
              <a:t>Time (date, quarter)</a:t>
            </a:r>
          </a:p>
          <a:p>
            <a:r>
              <a:rPr lang="en-US" dirty="0"/>
              <a:t>Source (file name, system)</a:t>
            </a:r>
          </a:p>
          <a:p>
            <a:r>
              <a:rPr lang="en-US" dirty="0"/>
              <a:t>Department (supply chain, finance)</a:t>
            </a:r>
          </a:p>
          <a:p>
            <a:r>
              <a:rPr lang="en-US" dirty="0"/>
              <a:t>Document type (policy, report, email)</a:t>
            </a:r>
          </a:p>
        </p:txBody>
      </p:sp>
    </p:spTree>
    <p:extLst>
      <p:ext uri="{BB962C8B-B14F-4D97-AF65-F5344CB8AC3E}">
        <p14:creationId xmlns:p14="http://schemas.microsoft.com/office/powerpoint/2010/main" val="465523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366146-7774-A1AD-3C5A-A4E536ACB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AE51D73-A8DF-C390-37B4-7AFDDC215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0FA1C8-44F9-6C19-9564-C2FB0FFF5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dirty="0"/>
              <a:t>When In-Memory vs Persistent Stores Make Sense</a:t>
            </a:r>
            <a:endParaRPr lang="en-US" sz="7400" b="1" dirty="0"/>
          </a:p>
        </p:txBody>
      </p:sp>
    </p:spTree>
    <p:extLst>
      <p:ext uri="{BB962C8B-B14F-4D97-AF65-F5344CB8AC3E}">
        <p14:creationId xmlns:p14="http://schemas.microsoft.com/office/powerpoint/2010/main" val="23439574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6E82C-20D6-BE62-C2BE-13A40A844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EB474-E6FD-15E1-06BB-B9A1E6EEF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In-Memory Vector Stores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D72EB-0C47-7A9D-0A30-CF5CE683E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Stored in RAM (temporary)</a:t>
            </a:r>
          </a:p>
          <a:p>
            <a:r>
              <a:rPr lang="en-US" b="1" dirty="0"/>
              <a:t>Examples:</a:t>
            </a:r>
          </a:p>
          <a:p>
            <a:pPr lvl="1"/>
            <a:r>
              <a:rPr lang="en-US" dirty="0"/>
              <a:t>FAISS (in-memory mode) </a:t>
            </a:r>
          </a:p>
          <a:p>
            <a:pPr lvl="1"/>
            <a:r>
              <a:rPr lang="en-US" b="1" dirty="0"/>
              <a:t>Pros:</a:t>
            </a:r>
          </a:p>
          <a:p>
            <a:pPr lvl="2"/>
            <a:r>
              <a:rPr lang="en-US" dirty="0"/>
              <a:t>Very fast</a:t>
            </a:r>
          </a:p>
          <a:p>
            <a:pPr lvl="2"/>
            <a:r>
              <a:rPr lang="en-US" dirty="0"/>
              <a:t>Great for demos / small datasets</a:t>
            </a:r>
          </a:p>
          <a:p>
            <a:pPr lvl="1"/>
            <a:r>
              <a:rPr lang="en-US" b="1" dirty="0"/>
              <a:t>Cons:</a:t>
            </a:r>
          </a:p>
          <a:p>
            <a:pPr lvl="2"/>
            <a:r>
              <a:rPr lang="en-US" dirty="0"/>
              <a:t>Data lost on restart</a:t>
            </a:r>
          </a:p>
          <a:p>
            <a:pPr lvl="2"/>
            <a:r>
              <a:rPr lang="en-US" dirty="0"/>
              <a:t>Not scalable for large 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905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53B11-E692-4996-FA00-AEE2DFF96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1014F-5AB3-0D61-0A7E-92AB76FFB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Persistent Vector Stores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2266C-CBA5-B7FE-2C49-825E49079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Stored on disk (durable)</a:t>
            </a:r>
          </a:p>
          <a:p>
            <a:r>
              <a:rPr lang="en-IN" b="1" dirty="0"/>
              <a:t>Examples:</a:t>
            </a:r>
          </a:p>
          <a:p>
            <a:pPr lvl="1"/>
            <a:r>
              <a:rPr lang="en-IN" dirty="0" err="1"/>
              <a:t>ChromaDB</a:t>
            </a:r>
            <a:r>
              <a:rPr lang="en-IN" dirty="0"/>
              <a:t> (persistent mode) </a:t>
            </a:r>
          </a:p>
          <a:p>
            <a:pPr lvl="1"/>
            <a:r>
              <a:rPr lang="en-IN" dirty="0"/>
              <a:t>Pinecone, </a:t>
            </a:r>
            <a:r>
              <a:rPr lang="en-IN" dirty="0" err="1"/>
              <a:t>Weaviate</a:t>
            </a:r>
            <a:r>
              <a:rPr lang="en-IN" dirty="0"/>
              <a:t> </a:t>
            </a:r>
          </a:p>
          <a:p>
            <a:pPr lvl="1"/>
            <a:r>
              <a:rPr lang="en-IN" b="1" dirty="0"/>
              <a:t>Pros:</a:t>
            </a:r>
          </a:p>
          <a:p>
            <a:pPr lvl="2"/>
            <a:r>
              <a:rPr lang="en-IN" dirty="0"/>
              <a:t>Data persists</a:t>
            </a:r>
          </a:p>
          <a:p>
            <a:pPr lvl="2"/>
            <a:r>
              <a:rPr lang="en-IN" dirty="0"/>
              <a:t>Scales to millions of documents</a:t>
            </a:r>
          </a:p>
          <a:p>
            <a:pPr lvl="2"/>
            <a:r>
              <a:rPr lang="en-IN" dirty="0"/>
              <a:t>Production-ready</a:t>
            </a:r>
          </a:p>
          <a:p>
            <a:pPr lvl="1"/>
            <a:r>
              <a:rPr lang="en-IN" b="1" dirty="0"/>
              <a:t>Cons:</a:t>
            </a:r>
          </a:p>
          <a:p>
            <a:pPr lvl="2"/>
            <a:r>
              <a:rPr lang="en-IN" dirty="0"/>
              <a:t>Slightly slower than RAM</a:t>
            </a:r>
          </a:p>
          <a:p>
            <a:pPr lvl="2"/>
            <a:r>
              <a:rPr lang="en-IN" dirty="0"/>
              <a:t>Needs setup and maintenance</a:t>
            </a:r>
          </a:p>
        </p:txBody>
      </p:sp>
    </p:spTree>
    <p:extLst>
      <p:ext uri="{BB962C8B-B14F-4D97-AF65-F5344CB8AC3E}">
        <p14:creationId xmlns:p14="http://schemas.microsoft.com/office/powerpoint/2010/main" val="149288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A6BFE-D614-5267-9076-8D394C3E5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All Together (Simple Flow)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7B25A-11FF-F570-ADC6-6DC971F96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Documents → Chunked → Embedded → Stored in vector store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User query → Embedded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Vector store:</a:t>
            </a:r>
          </a:p>
          <a:p>
            <a:pPr lvl="1"/>
            <a:r>
              <a:rPr lang="en-IN" dirty="0"/>
              <a:t>Finds similar chunks</a:t>
            </a:r>
          </a:p>
          <a:p>
            <a:pPr lvl="1"/>
            <a:r>
              <a:rPr lang="en-IN" dirty="0"/>
              <a:t>Applies metadata filters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Retrieved chunks → LLM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Final grounded answer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4403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C7E16-6B8C-280C-F604-8D9385D57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52131-FB4F-6957-4A76-41B3E111F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DFA94-7BB3-A18D-3E06-8DED01A38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FAISS RAG</a:t>
            </a:r>
          </a:p>
          <a:p>
            <a:r>
              <a:rPr lang="en-US" dirty="0" err="1"/>
              <a:t>ChromaDB</a:t>
            </a:r>
            <a:r>
              <a:rPr lang="en-US" dirty="0"/>
              <a:t> RAG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8169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66804-B56F-083C-3F6B-0DF22CC19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952B5-46D9-5C09-0C9A-0DD2CD24B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79826-5E44-C184-8C42-0C25F6EB1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7775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517</Words>
  <Application>Microsoft Office PowerPoint</Application>
  <PresentationFormat>Widescreen</PresentationFormat>
  <Paragraphs>129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Neue Haas Grotesk Text Pro</vt:lpstr>
      <vt:lpstr>Office Theme</vt:lpstr>
      <vt:lpstr>1_Office Theme</vt:lpstr>
      <vt:lpstr>Python Enablement for Gen AI</vt:lpstr>
      <vt:lpstr>Vector Store Design Considerations</vt:lpstr>
      <vt:lpstr>Vector Store Responsibilities in RAG</vt:lpstr>
      <vt:lpstr>What does a vector store actually do?</vt:lpstr>
      <vt:lpstr>Indexing vs Query-Time Trade-offs</vt:lpstr>
      <vt:lpstr>Indexing Time (Pre-processing phase)</vt:lpstr>
      <vt:lpstr>Query-Time (On-demand processing)</vt:lpstr>
      <vt:lpstr>Example</vt:lpstr>
      <vt:lpstr>Metadata Storage and Filtering</vt:lpstr>
      <vt:lpstr>What is metadata?</vt:lpstr>
      <vt:lpstr>Types of metadata you should store</vt:lpstr>
      <vt:lpstr>When In-Memory vs Persistent Stores Make Sense</vt:lpstr>
      <vt:lpstr>In-Memory Vector Stores</vt:lpstr>
      <vt:lpstr>Persistent Vector Stores</vt:lpstr>
      <vt:lpstr>Putting It All Together (Simple Flow)</vt:lpstr>
      <vt:lpstr>Demo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Ajay Singala</dc:creator>
  <cp:lastModifiedBy>Ajay Singala</cp:lastModifiedBy>
  <cp:revision>51</cp:revision>
  <dcterms:created xsi:type="dcterms:W3CDTF">2026-04-01T13:32:53Z</dcterms:created>
  <dcterms:modified xsi:type="dcterms:W3CDTF">2026-04-17T08:38:53Z</dcterms:modified>
</cp:coreProperties>
</file>